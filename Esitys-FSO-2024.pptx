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5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fi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2A"/>
    <a:srgbClr val="00D5C5"/>
    <a:srgbClr val="F20D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340"/>
    <p:restoredTop sz="94718"/>
  </p:normalViewPr>
  <p:slideViewPr>
    <p:cSldViewPr snapToGrid="0">
      <p:cViewPr varScale="1">
        <p:scale>
          <a:sx n="70" d="100"/>
          <a:sy n="70" d="100"/>
        </p:scale>
        <p:origin x="840" y="1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Ylätunnisteen paikkamerkki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3" name="Päivämäärän paikkamerkki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427A10-AADC-E446-8E12-EFF4C40C8F20}" type="datetimeFigureOut">
              <a:rPr lang="fi-FI" smtClean="0"/>
              <a:t>19.5.2024</a:t>
            </a:fld>
            <a:endParaRPr lang="fi-FI"/>
          </a:p>
        </p:txBody>
      </p:sp>
      <p:sp>
        <p:nvSpPr>
          <p:cNvPr id="4" name="Dian kuvan paikkamerkki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i-FI"/>
          </a:p>
        </p:txBody>
      </p:sp>
      <p:sp>
        <p:nvSpPr>
          <p:cNvPr id="5" name="Huomautusten paikkamerkki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C025A6-140C-AD4B-BA93-3FA1AF34A1DB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392146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C025A6-140C-AD4B-BA93-3FA1AF34A1DB}" type="slidenum">
              <a:rPr lang="fi-FI" smtClean="0"/>
              <a:t>24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42027831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tsikko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867374CD-A897-E051-798F-680DE0F212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Alaotsikko 2">
            <a:extLst>
              <a:ext uri="{FF2B5EF4-FFF2-40B4-BE49-F238E27FC236}">
                <a16:creationId xmlns:a16="http://schemas.microsoft.com/office/drawing/2014/main" id="{096C4CF4-F95A-8156-1E85-5DFABBF818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i-FI"/>
              <a:t>Muokkaa alaotsikon perustyyliä napsautt.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9F94F849-F31D-B3C8-6549-80C68B565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66C42-42A7-8042-BE30-C038430557DE}" type="datetimeFigureOut">
              <a:rPr lang="fi-FI" smtClean="0"/>
              <a:t>25.4.2024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6854C8E2-82FC-D517-0504-9962E2B8F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A5D694B4-9992-AF7E-E459-8BA8C9157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DAC82-FE1B-1140-B85B-4F0A6DFE7A34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971611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tsikko ja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BD0EB012-156A-868B-8488-14F343635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E71BEC24-1767-0074-270A-A2F153B53C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957DAEDD-00DF-8C13-5966-A7E38160F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66C42-42A7-8042-BE30-C038430557DE}" type="datetimeFigureOut">
              <a:rPr lang="fi-FI" smtClean="0"/>
              <a:t>25.4.2024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C0F9D4C0-7B35-4701-18A3-A651501FC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E075ABD5-4F66-E811-A1AA-6BF959066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DAC82-FE1B-1140-B85B-4F0A6DFE7A34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101411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Osan ylätunni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D0176570-13DA-1C70-E169-DE5F44305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Tekstin paikkamerkki 2">
            <a:extLst>
              <a:ext uri="{FF2B5EF4-FFF2-40B4-BE49-F238E27FC236}">
                <a16:creationId xmlns:a16="http://schemas.microsoft.com/office/drawing/2014/main" id="{58B34685-744E-86B7-322A-9829C3E489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A956ACE4-E3ED-C446-1B69-7EF7EE218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66C42-42A7-8042-BE30-C038430557DE}" type="datetimeFigureOut">
              <a:rPr lang="fi-FI" smtClean="0"/>
              <a:t>25.4.2024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96E90951-1581-A8AD-08E1-77D8512CD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A223ED13-EE3E-EF5E-017F-7F6F8A04A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DAC82-FE1B-1140-B85B-4F0A6DFE7A34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059614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Kaksi sisältökohdet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0802A0A5-29E9-C726-A903-2C21D7084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C1DDEBAD-3603-E173-7700-97E9CBB5E4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Sisällön paikkamerkki 3">
            <a:extLst>
              <a:ext uri="{FF2B5EF4-FFF2-40B4-BE49-F238E27FC236}">
                <a16:creationId xmlns:a16="http://schemas.microsoft.com/office/drawing/2014/main" id="{732B44AF-5DBF-D303-D990-79425BD37A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5" name="Päivämäärän paikkamerkki 4">
            <a:extLst>
              <a:ext uri="{FF2B5EF4-FFF2-40B4-BE49-F238E27FC236}">
                <a16:creationId xmlns:a16="http://schemas.microsoft.com/office/drawing/2014/main" id="{AE7E1D34-9340-3E2F-F632-3E997F516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66C42-42A7-8042-BE30-C038430557DE}" type="datetimeFigureOut">
              <a:rPr lang="fi-FI" smtClean="0"/>
              <a:t>25.4.2024</a:t>
            </a:fld>
            <a:endParaRPr lang="fi-FI"/>
          </a:p>
        </p:txBody>
      </p:sp>
      <p:sp>
        <p:nvSpPr>
          <p:cNvPr id="6" name="Alatunnisteen paikkamerkki 5">
            <a:extLst>
              <a:ext uri="{FF2B5EF4-FFF2-40B4-BE49-F238E27FC236}">
                <a16:creationId xmlns:a16="http://schemas.microsoft.com/office/drawing/2014/main" id="{E065A610-AD53-4708-B2C0-7ECE8434D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Dian numeron paikkamerkki 6">
            <a:extLst>
              <a:ext uri="{FF2B5EF4-FFF2-40B4-BE49-F238E27FC236}">
                <a16:creationId xmlns:a16="http://schemas.microsoft.com/office/drawing/2014/main" id="{4EEA9A06-2360-2360-4255-27F8E084F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DAC82-FE1B-1140-B85B-4F0A6DFE7A34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780436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tai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EB033074-FBE6-A6E9-466D-E8D83D29E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Tekstin paikkamerkki 2">
            <a:extLst>
              <a:ext uri="{FF2B5EF4-FFF2-40B4-BE49-F238E27FC236}">
                <a16:creationId xmlns:a16="http://schemas.microsoft.com/office/drawing/2014/main" id="{5CCD8F24-F9C7-9122-D1CD-D3D73AF257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4" name="Sisällön paikkamerkki 3">
            <a:extLst>
              <a:ext uri="{FF2B5EF4-FFF2-40B4-BE49-F238E27FC236}">
                <a16:creationId xmlns:a16="http://schemas.microsoft.com/office/drawing/2014/main" id="{815950DC-4AE9-9224-D3FC-CEE3C677EF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5" name="Tekstin paikkamerkki 4">
            <a:extLst>
              <a:ext uri="{FF2B5EF4-FFF2-40B4-BE49-F238E27FC236}">
                <a16:creationId xmlns:a16="http://schemas.microsoft.com/office/drawing/2014/main" id="{0CD8384B-BF1E-B41F-7ECE-796E1A0FCD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6" name="Sisällön paikkamerkki 5">
            <a:extLst>
              <a:ext uri="{FF2B5EF4-FFF2-40B4-BE49-F238E27FC236}">
                <a16:creationId xmlns:a16="http://schemas.microsoft.com/office/drawing/2014/main" id="{C387D7E5-BF73-459B-2924-B9DE993EFC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7" name="Päivämäärän paikkamerkki 6">
            <a:extLst>
              <a:ext uri="{FF2B5EF4-FFF2-40B4-BE49-F238E27FC236}">
                <a16:creationId xmlns:a16="http://schemas.microsoft.com/office/drawing/2014/main" id="{F95951AC-7D9A-8FC3-BDA2-50B1B58EA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66C42-42A7-8042-BE30-C038430557DE}" type="datetimeFigureOut">
              <a:rPr lang="fi-FI" smtClean="0"/>
              <a:t>25.4.2024</a:t>
            </a:fld>
            <a:endParaRPr lang="fi-FI"/>
          </a:p>
        </p:txBody>
      </p:sp>
      <p:sp>
        <p:nvSpPr>
          <p:cNvPr id="8" name="Alatunnisteen paikkamerkki 7">
            <a:extLst>
              <a:ext uri="{FF2B5EF4-FFF2-40B4-BE49-F238E27FC236}">
                <a16:creationId xmlns:a16="http://schemas.microsoft.com/office/drawing/2014/main" id="{3A69FF11-AD74-C2CB-8902-4D8BF0034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9" name="Dian numeron paikkamerkki 8">
            <a:extLst>
              <a:ext uri="{FF2B5EF4-FFF2-40B4-BE49-F238E27FC236}">
                <a16:creationId xmlns:a16="http://schemas.microsoft.com/office/drawing/2014/main" id="{6E45A304-1A93-5D9E-7783-65BB71CE1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DAC82-FE1B-1140-B85B-4F0A6DFE7A34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41847304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Vain otsikk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1B378F09-C38B-1E37-2A26-9AFFB6D43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Päivämäärän paikkamerkki 2">
            <a:extLst>
              <a:ext uri="{FF2B5EF4-FFF2-40B4-BE49-F238E27FC236}">
                <a16:creationId xmlns:a16="http://schemas.microsoft.com/office/drawing/2014/main" id="{3F7FC706-6C05-40C8-51A0-36A4D96FB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66C42-42A7-8042-BE30-C038430557DE}" type="datetimeFigureOut">
              <a:rPr lang="fi-FI" smtClean="0"/>
              <a:t>25.4.2024</a:t>
            </a:fld>
            <a:endParaRPr lang="fi-FI"/>
          </a:p>
        </p:txBody>
      </p:sp>
      <p:sp>
        <p:nvSpPr>
          <p:cNvPr id="4" name="Alatunnisteen paikkamerkki 3">
            <a:extLst>
              <a:ext uri="{FF2B5EF4-FFF2-40B4-BE49-F238E27FC236}">
                <a16:creationId xmlns:a16="http://schemas.microsoft.com/office/drawing/2014/main" id="{A1F3E66D-6D42-35A8-9C28-3BF9CD7FE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5" name="Dian numeron paikkamerkki 4">
            <a:extLst>
              <a:ext uri="{FF2B5EF4-FFF2-40B4-BE49-F238E27FC236}">
                <a16:creationId xmlns:a16="http://schemas.microsoft.com/office/drawing/2014/main" id="{0DAFDB2C-13C4-B878-3E40-E80ED39DA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DAC82-FE1B-1140-B85B-4F0A6DFE7A34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963066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yhj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äivämäärän paikkamerkki 1">
            <a:extLst>
              <a:ext uri="{FF2B5EF4-FFF2-40B4-BE49-F238E27FC236}">
                <a16:creationId xmlns:a16="http://schemas.microsoft.com/office/drawing/2014/main" id="{4C274F74-6AE2-D0EA-CC17-72050BC55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66C42-42A7-8042-BE30-C038430557DE}" type="datetimeFigureOut">
              <a:rPr lang="fi-FI" smtClean="0"/>
              <a:t>25.4.2024</a:t>
            </a:fld>
            <a:endParaRPr lang="fi-FI"/>
          </a:p>
        </p:txBody>
      </p:sp>
      <p:sp>
        <p:nvSpPr>
          <p:cNvPr id="3" name="Alatunnisteen paikkamerkki 2">
            <a:extLst>
              <a:ext uri="{FF2B5EF4-FFF2-40B4-BE49-F238E27FC236}">
                <a16:creationId xmlns:a16="http://schemas.microsoft.com/office/drawing/2014/main" id="{E2458A10-197E-66A5-F527-A08A8746D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4" name="Dian numeron paikkamerkki 3">
            <a:extLst>
              <a:ext uri="{FF2B5EF4-FFF2-40B4-BE49-F238E27FC236}">
                <a16:creationId xmlns:a16="http://schemas.microsoft.com/office/drawing/2014/main" id="{00F63924-B531-6B51-F456-14E268B73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DAC82-FE1B-1140-B85B-4F0A6DFE7A34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068641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Kuvatekstillinen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4B6C46FE-6408-EFC8-8B13-A73AD713C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2652DC20-FF72-60E4-F45A-14111EB872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Tekstin paikkamerkki 3">
            <a:extLst>
              <a:ext uri="{FF2B5EF4-FFF2-40B4-BE49-F238E27FC236}">
                <a16:creationId xmlns:a16="http://schemas.microsoft.com/office/drawing/2014/main" id="{80D9D2BD-5105-21B2-A524-F80CA37A3C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5" name="Päivämäärän paikkamerkki 4">
            <a:extLst>
              <a:ext uri="{FF2B5EF4-FFF2-40B4-BE49-F238E27FC236}">
                <a16:creationId xmlns:a16="http://schemas.microsoft.com/office/drawing/2014/main" id="{80166D42-0E0C-BF3B-E0E2-B47978FD1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66C42-42A7-8042-BE30-C038430557DE}" type="datetimeFigureOut">
              <a:rPr lang="fi-FI" smtClean="0"/>
              <a:t>25.4.2024</a:t>
            </a:fld>
            <a:endParaRPr lang="fi-FI"/>
          </a:p>
        </p:txBody>
      </p:sp>
      <p:sp>
        <p:nvSpPr>
          <p:cNvPr id="6" name="Alatunnisteen paikkamerkki 5">
            <a:extLst>
              <a:ext uri="{FF2B5EF4-FFF2-40B4-BE49-F238E27FC236}">
                <a16:creationId xmlns:a16="http://schemas.microsoft.com/office/drawing/2014/main" id="{9D18A7E5-F108-07CF-C17A-C63004C9E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Dian numeron paikkamerkki 6">
            <a:extLst>
              <a:ext uri="{FF2B5EF4-FFF2-40B4-BE49-F238E27FC236}">
                <a16:creationId xmlns:a16="http://schemas.microsoft.com/office/drawing/2014/main" id="{2000C088-2616-5E8C-697D-B58BDCE96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DAC82-FE1B-1140-B85B-4F0A6DFE7A34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489393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uvatekstillinen ku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BEA855A2-DD46-4BBF-188B-E20323103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Kuvan paikkamerkki 2">
            <a:extLst>
              <a:ext uri="{FF2B5EF4-FFF2-40B4-BE49-F238E27FC236}">
                <a16:creationId xmlns:a16="http://schemas.microsoft.com/office/drawing/2014/main" id="{119C7D9C-10F4-CB8C-7B62-2765AB6FF2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i-FI"/>
          </a:p>
        </p:txBody>
      </p:sp>
      <p:sp>
        <p:nvSpPr>
          <p:cNvPr id="4" name="Tekstin paikkamerkki 3">
            <a:extLst>
              <a:ext uri="{FF2B5EF4-FFF2-40B4-BE49-F238E27FC236}">
                <a16:creationId xmlns:a16="http://schemas.microsoft.com/office/drawing/2014/main" id="{37B324C4-C8B4-F4A9-E831-F42B6F59A2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5" name="Päivämäärän paikkamerkki 4">
            <a:extLst>
              <a:ext uri="{FF2B5EF4-FFF2-40B4-BE49-F238E27FC236}">
                <a16:creationId xmlns:a16="http://schemas.microsoft.com/office/drawing/2014/main" id="{4F72EF8C-6965-C040-EB1A-D16628B4C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66C42-42A7-8042-BE30-C038430557DE}" type="datetimeFigureOut">
              <a:rPr lang="fi-FI" smtClean="0"/>
              <a:t>25.4.2024</a:t>
            </a:fld>
            <a:endParaRPr lang="fi-FI"/>
          </a:p>
        </p:txBody>
      </p:sp>
      <p:sp>
        <p:nvSpPr>
          <p:cNvPr id="6" name="Alatunnisteen paikkamerkki 5">
            <a:extLst>
              <a:ext uri="{FF2B5EF4-FFF2-40B4-BE49-F238E27FC236}">
                <a16:creationId xmlns:a16="http://schemas.microsoft.com/office/drawing/2014/main" id="{1DCCC7C4-65ED-B129-C1CC-544679E89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Dian numeron paikkamerkki 6">
            <a:extLst>
              <a:ext uri="{FF2B5EF4-FFF2-40B4-BE49-F238E27FC236}">
                <a16:creationId xmlns:a16="http://schemas.microsoft.com/office/drawing/2014/main" id="{94F3A695-5AE9-F8E1-668B-A6382D382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DAC82-FE1B-1140-B85B-4F0A6DFE7A34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586071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Otsikko ja pystysuor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E017F898-83C2-31A7-92BC-56C259587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Pystysuoran tekstin paikkamerkki 2">
            <a:extLst>
              <a:ext uri="{FF2B5EF4-FFF2-40B4-BE49-F238E27FC236}">
                <a16:creationId xmlns:a16="http://schemas.microsoft.com/office/drawing/2014/main" id="{4B3AEDED-C984-F648-953B-23F81F6380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23CFB262-381B-5408-92FF-39C6EB5C8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66C42-42A7-8042-BE30-C038430557DE}" type="datetimeFigureOut">
              <a:rPr lang="fi-FI" smtClean="0"/>
              <a:t>25.4.2024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43186831-A312-AADF-AE5E-CB158F18B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64FBB3A6-F206-A9C0-9F96-13A623B35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DAC82-FE1B-1140-B85B-4F0A6DFE7A34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984847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Pystysuora otsikko j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ystysuora otsikko 1">
            <a:extLst>
              <a:ext uri="{FF2B5EF4-FFF2-40B4-BE49-F238E27FC236}">
                <a16:creationId xmlns:a16="http://schemas.microsoft.com/office/drawing/2014/main" id="{5FC27869-EF64-694C-03CE-F7D03C1351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Pystysuoran tekstin paikkamerkki 2">
            <a:extLst>
              <a:ext uri="{FF2B5EF4-FFF2-40B4-BE49-F238E27FC236}">
                <a16:creationId xmlns:a16="http://schemas.microsoft.com/office/drawing/2014/main" id="{6F44906F-9A33-E4A0-A1F2-83A26D1A7A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B0E8335C-F737-836D-2FBD-E8E2A818B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66C42-42A7-8042-BE30-C038430557DE}" type="datetimeFigureOut">
              <a:rPr lang="fi-FI" smtClean="0"/>
              <a:t>25.4.2024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128B69C2-86E6-4B14-1569-1484D25B1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21EE2465-35E5-A62A-C436-AA6BDE1CB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DAC82-FE1B-1140-B85B-4F0A6DFE7A34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658540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on paikkamerkki 1">
            <a:extLst>
              <a:ext uri="{FF2B5EF4-FFF2-40B4-BE49-F238E27FC236}">
                <a16:creationId xmlns:a16="http://schemas.microsoft.com/office/drawing/2014/main" id="{B9760970-C8CA-C4E8-E8A9-A0234A828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Tekstin paikkamerkki 2">
            <a:extLst>
              <a:ext uri="{FF2B5EF4-FFF2-40B4-BE49-F238E27FC236}">
                <a16:creationId xmlns:a16="http://schemas.microsoft.com/office/drawing/2014/main" id="{91480E69-8B92-7D44-5F7A-1125103BCA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D3A15496-1546-4012-106E-9035579391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066C42-42A7-8042-BE30-C038430557DE}" type="datetimeFigureOut">
              <a:rPr lang="fi-FI" smtClean="0"/>
              <a:t>25.4.2024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7F8CF648-3DFD-4417-39C0-CFCE1BDE69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AC2C0930-53C0-52FD-C42F-170B77843E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CDAC82-FE1B-1140-B85B-4F0A6DFE7A34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496866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xels.com/photo/blur-bright-business-codes-20758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uhelinluettelo-frontend.onrender.com/" TargetMode="External"/><Relationship Id="rId2" Type="http://schemas.openxmlformats.org/officeDocument/2006/relationships/hyperlink" Target="https://puhelinluettelo-oqv3.onrender.com/api/persons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uva 4" descr="Kuva, joka sisältää kohteen kuvakaappaus, teksti&#10;&#10;Kuvaus luotu automaattisesti">
            <a:extLst>
              <a:ext uri="{FF2B5EF4-FFF2-40B4-BE49-F238E27FC236}">
                <a16:creationId xmlns:a16="http://schemas.microsoft.com/office/drawing/2014/main" id="{4B721D15-F76D-BD01-FCC4-F1644B0B13D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1000"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Otsikko 1">
            <a:extLst>
              <a:ext uri="{FF2B5EF4-FFF2-40B4-BE49-F238E27FC236}">
                <a16:creationId xmlns:a16="http://schemas.microsoft.com/office/drawing/2014/main" id="{FE707E40-40B9-0730-7758-6E19D98360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68013"/>
            <a:ext cx="9144000" cy="1341950"/>
          </a:xfrm>
        </p:spPr>
        <p:txBody>
          <a:bodyPr/>
          <a:lstStyle/>
          <a:p>
            <a:r>
              <a:rPr lang="fi-FI" dirty="0" err="1"/>
              <a:t>React</a:t>
            </a:r>
            <a:r>
              <a:rPr lang="fi-FI" dirty="0"/>
              <a:t> Full </a:t>
            </a:r>
            <a:r>
              <a:rPr lang="fi-FI" dirty="0" err="1"/>
              <a:t>Stack</a:t>
            </a:r>
            <a:r>
              <a:rPr lang="fi-FI" dirty="0"/>
              <a:t> Open</a:t>
            </a:r>
          </a:p>
        </p:txBody>
      </p:sp>
      <p:sp>
        <p:nvSpPr>
          <p:cNvPr id="3" name="Alaotsikko 2">
            <a:extLst>
              <a:ext uri="{FF2B5EF4-FFF2-40B4-BE49-F238E27FC236}">
                <a16:creationId xmlns:a16="http://schemas.microsoft.com/office/drawing/2014/main" id="{5262AF52-94A9-8AFA-55F9-B458F8A0C4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i-FI" dirty="0"/>
              <a:t>Jarno K .NET22S</a:t>
            </a:r>
          </a:p>
          <a:p>
            <a:r>
              <a:rPr lang="fi-FI" dirty="0"/>
              <a:t>22.5.2024</a:t>
            </a:r>
          </a:p>
        </p:txBody>
      </p:sp>
    </p:spTree>
    <p:extLst>
      <p:ext uri="{BB962C8B-B14F-4D97-AF65-F5344CB8AC3E}">
        <p14:creationId xmlns:p14="http://schemas.microsoft.com/office/powerpoint/2010/main" val="3537536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FA484228-ADAD-7532-9B3F-A693AA303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Osa 3 - (</a:t>
            </a:r>
            <a:r>
              <a:rPr lang="fi-FI" dirty="0" err="1"/>
              <a:t>Node.js</a:t>
            </a:r>
            <a:r>
              <a:rPr lang="fi-FI" dirty="0"/>
              <a:t> ja Express)</a:t>
            </a:r>
          </a:p>
        </p:txBody>
      </p:sp>
      <p:sp>
        <p:nvSpPr>
          <p:cNvPr id="5" name="Sisällön paikkamerkki 4">
            <a:extLst>
              <a:ext uri="{FF2B5EF4-FFF2-40B4-BE49-F238E27FC236}">
                <a16:creationId xmlns:a16="http://schemas.microsoft.com/office/drawing/2014/main" id="{7C2DD757-F863-C13B-5EE9-9B71F51B8C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6348"/>
            <a:ext cx="10515600" cy="5250426"/>
          </a:xfrm>
        </p:spPr>
        <p:txBody>
          <a:bodyPr>
            <a:normAutofit fontScale="92500" lnSpcReduction="20000"/>
          </a:bodyPr>
          <a:lstStyle/>
          <a:p>
            <a:r>
              <a:rPr lang="fi-FI" dirty="0"/>
              <a:t>Koodi keskittyy </a:t>
            </a:r>
            <a:r>
              <a:rPr lang="fi-FI" dirty="0" err="1"/>
              <a:t>backendiin</a:t>
            </a:r>
            <a:r>
              <a:rPr lang="fi-FI" dirty="0"/>
              <a:t> REST määrittelyllä</a:t>
            </a:r>
          </a:p>
          <a:p>
            <a:pPr lvl="1"/>
            <a:r>
              <a:rPr lang="fi-FI" dirty="0"/>
              <a:t>Rajapinta tarjoaa dataa JSON muotoisena</a:t>
            </a:r>
          </a:p>
          <a:p>
            <a:r>
              <a:rPr lang="fi-FI" dirty="0" err="1"/>
              <a:t>Routes</a:t>
            </a:r>
            <a:r>
              <a:rPr lang="fi-FI" dirty="0"/>
              <a:t> tarjoaa yhteydet eri resursseihin</a:t>
            </a:r>
          </a:p>
          <a:p>
            <a:pPr lvl="1"/>
            <a:r>
              <a:rPr lang="fi-FI" dirty="0"/>
              <a:t>Reitit toimivat komentopolkuna erilaisille operaatioille</a:t>
            </a:r>
          </a:p>
          <a:p>
            <a:r>
              <a:rPr lang="fi-FI" dirty="0"/>
              <a:t>Resurssiin voidaan tehdä erilaisia operaatioita GET, POST, DELETE ja PUT</a:t>
            </a:r>
          </a:p>
          <a:p>
            <a:r>
              <a:rPr lang="fi-FI" dirty="0" err="1"/>
              <a:t>Middleware</a:t>
            </a:r>
            <a:r>
              <a:rPr lang="fi-FI" dirty="0"/>
              <a:t> ohjelma Morgan </a:t>
            </a:r>
            <a:r>
              <a:rPr lang="fi-FI" dirty="0" err="1"/>
              <a:t>loggaa</a:t>
            </a:r>
            <a:r>
              <a:rPr lang="fi-FI" dirty="0"/>
              <a:t> dataa konsoliin</a:t>
            </a:r>
          </a:p>
          <a:p>
            <a:pPr lvl="1"/>
            <a:r>
              <a:rPr lang="fi-FI" dirty="0" err="1"/>
              <a:t>Middlewaret</a:t>
            </a:r>
            <a:r>
              <a:rPr lang="fi-FI" dirty="0"/>
              <a:t> ovat funktioita jotka suorittavat annettuja tehtäviä siinä järjestyksessä kuin ne on asennettu</a:t>
            </a:r>
          </a:p>
          <a:p>
            <a:r>
              <a:rPr lang="fi-FI" dirty="0"/>
              <a:t>Sovellus kytketty </a:t>
            </a:r>
            <a:r>
              <a:rPr lang="fi-FI" dirty="0" err="1"/>
              <a:t>MongoDB</a:t>
            </a:r>
            <a:endParaRPr lang="fi-FI" dirty="0"/>
          </a:p>
          <a:p>
            <a:pPr lvl="1"/>
            <a:r>
              <a:rPr lang="fi-FI" dirty="0"/>
              <a:t>Tietokantayhteys tarvitsee myös skeeman, jossa on määritelty millaista dataa viedään. Dataa voidaan myös validoida heti skeemassa esim. annetun nimen pitää olla min. 5 merkkiä pitkä. Tietokantayhteys määritellään erilleen koodista .</a:t>
            </a:r>
            <a:r>
              <a:rPr lang="fi-FI" dirty="0" err="1"/>
              <a:t>env</a:t>
            </a:r>
            <a:r>
              <a:rPr lang="fi-FI" dirty="0"/>
              <a:t> tiedostoon</a:t>
            </a:r>
          </a:p>
          <a:p>
            <a:pPr marL="0" indent="0">
              <a:buNone/>
            </a:pPr>
            <a:r>
              <a:rPr lang="fi-FI" dirty="0" err="1"/>
              <a:t>Backend</a:t>
            </a:r>
            <a:r>
              <a:rPr lang="fi-FI" dirty="0"/>
              <a:t>: </a:t>
            </a:r>
            <a:r>
              <a:rPr lang="fi-FI" dirty="0">
                <a:solidFill>
                  <a:srgbClr val="00B0F0"/>
                </a:solidFill>
                <a:hlinkClick r:id="rId2"/>
              </a:rPr>
              <a:t>https://puhelinluettelo-oqv3.onrender.com/api/persons</a:t>
            </a:r>
            <a:endParaRPr lang="fi-FI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fi-FI" dirty="0" err="1"/>
              <a:t>Frontend</a:t>
            </a:r>
            <a:r>
              <a:rPr lang="fi-FI" dirty="0"/>
              <a:t>: </a:t>
            </a:r>
            <a:r>
              <a:rPr lang="fi-FI" dirty="0">
                <a:hlinkClick r:id="rId3"/>
              </a:rPr>
              <a:t>https://puhelinluettelo-frontend.onrender.com/</a:t>
            </a:r>
            <a:endParaRPr lang="fi-FI" dirty="0"/>
          </a:p>
          <a:p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806949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7B6EFAA9-D6F7-4BA6-A3FC-F5318CC0A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Osa 4 - Käyttäjähallinta ja </a:t>
            </a:r>
            <a:r>
              <a:rPr lang="fi-FI" dirty="0" err="1"/>
              <a:t>Token</a:t>
            </a:r>
            <a:r>
              <a:rPr lang="fi-FI" dirty="0"/>
              <a:t> pohjainen kirjautuminen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B8C97A7F-7D7D-95CB-C6A7-FE5DA88A4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i-FI" dirty="0" err="1"/>
              <a:t>Token</a:t>
            </a:r>
            <a:r>
              <a:rPr lang="fi-FI" dirty="0"/>
              <a:t> pohjainen kirjautuminen, määrittelee yksilöllisen Tokenin käyttäjälle. ”Avain” käyttäjän tietoihin, jolla on vastapari palvelimella.</a:t>
            </a:r>
          </a:p>
          <a:p>
            <a:pPr lvl="1"/>
            <a:r>
              <a:rPr lang="fi-FI" dirty="0"/>
              <a:t>Tieto on yhden suhde moneen tietokannassa, eli yhdellä käyttäjällä voi olla monta tietotaulua, jotka yhdistyy käyttäjään Tokenin avulla. Jokainen taulu saa oman </a:t>
            </a:r>
            <a:r>
              <a:rPr lang="fi-FI" dirty="0" err="1"/>
              <a:t>id:n</a:t>
            </a:r>
            <a:r>
              <a:rPr lang="fi-FI" dirty="0"/>
              <a:t> kun se luodaan</a:t>
            </a:r>
          </a:p>
          <a:p>
            <a:pPr lvl="1"/>
            <a:r>
              <a:rPr lang="fi-FI" dirty="0"/>
              <a:t>Tokenin voimassaoloa voidaan säätää, mitä lyhyempi voimassaoloaika on sen turvallisempi </a:t>
            </a:r>
            <a:r>
              <a:rPr lang="fi-FI" dirty="0" err="1"/>
              <a:t>Token</a:t>
            </a:r>
            <a:r>
              <a:rPr lang="fi-FI" dirty="0"/>
              <a:t> pohjainen kirjautumismalli on!</a:t>
            </a:r>
          </a:p>
          <a:p>
            <a:pPr lvl="1"/>
            <a:r>
              <a:rPr lang="fi-FI" dirty="0"/>
              <a:t>Käyttäjää luodessa salasana muokkautuu kryptiseksi merkkisarjaksi </a:t>
            </a:r>
            <a:r>
              <a:rPr lang="fi-FI" dirty="0" err="1"/>
              <a:t>hash</a:t>
            </a:r>
            <a:r>
              <a:rPr lang="fi-FI" dirty="0"/>
              <a:t>-mekanismilla, joka ei ole selkokielisesti luettavissa, tämä tallentuu tietokantaan ja on selväkielisen salasanan vastinpari</a:t>
            </a:r>
          </a:p>
          <a:p>
            <a:r>
              <a:rPr lang="fi-FI" dirty="0"/>
              <a:t>Määritellään että vain kirjautunut käyttäjä voi tehdä operaatioita palvelimella. Dokumentaatiotietokanta </a:t>
            </a:r>
            <a:r>
              <a:rPr lang="fi-FI" dirty="0" err="1"/>
              <a:t>MongoDB</a:t>
            </a:r>
            <a:r>
              <a:rPr lang="fi-FI" dirty="0"/>
              <a:t> tehdään GET kyselyt </a:t>
            </a:r>
            <a:r>
              <a:rPr lang="fi-FI" dirty="0" err="1"/>
              <a:t>find</a:t>
            </a:r>
            <a:r>
              <a:rPr lang="fi-FI" dirty="0"/>
              <a:t> –komennolla ja </a:t>
            </a:r>
            <a:r>
              <a:rPr lang="fi-FI" dirty="0" err="1"/>
              <a:t>populate</a:t>
            </a:r>
            <a:r>
              <a:rPr lang="fi-FI" dirty="0"/>
              <a:t> data, joka vastaa esim. käyttäjän </a:t>
            </a:r>
            <a:r>
              <a:rPr lang="fi-FI" dirty="0" err="1"/>
              <a:t>id:tä</a:t>
            </a:r>
            <a:r>
              <a:rPr lang="fi-FI" dirty="0"/>
              <a:t>. Tulostaa palvelimelta käyttäjän syöttämät tietotaulut.</a:t>
            </a:r>
          </a:p>
        </p:txBody>
      </p:sp>
    </p:spTree>
    <p:extLst>
      <p:ext uri="{BB962C8B-B14F-4D97-AF65-F5344CB8AC3E}">
        <p14:creationId xmlns:p14="http://schemas.microsoft.com/office/powerpoint/2010/main" val="4916179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619BC1D0-AF15-9306-7C91-8EE99BA5B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Osa 4 – </a:t>
            </a:r>
            <a:r>
              <a:rPr lang="fi-FI" dirty="0" err="1"/>
              <a:t>Backend</a:t>
            </a:r>
            <a:r>
              <a:rPr lang="fi-FI" dirty="0"/>
              <a:t> testaus 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6D192B8E-0278-9097-56FE-649E23D0AB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fi-FI" b="0" i="0" dirty="0">
                <a:effectLst/>
                <a:latin typeface="Söhne"/>
              </a:rPr>
              <a:t>"</a:t>
            </a:r>
            <a:r>
              <a:rPr lang="fi-FI" b="0" i="0" dirty="0" err="1">
                <a:effectLst/>
                <a:latin typeface="Söhne"/>
              </a:rPr>
              <a:t>Async</a:t>
            </a:r>
            <a:r>
              <a:rPr lang="fi-FI" b="0" i="0" dirty="0">
                <a:effectLst/>
                <a:latin typeface="Söhne"/>
              </a:rPr>
              <a:t>" ja "</a:t>
            </a:r>
            <a:r>
              <a:rPr lang="fi-FI" b="0" i="0" dirty="0" err="1">
                <a:effectLst/>
                <a:latin typeface="Söhne"/>
              </a:rPr>
              <a:t>await</a:t>
            </a:r>
            <a:r>
              <a:rPr lang="fi-FI" b="0" i="0" dirty="0">
                <a:effectLst/>
                <a:latin typeface="Söhne"/>
              </a:rPr>
              <a:t>" ovat syntakseja, jotka mahdollistavat </a:t>
            </a:r>
            <a:r>
              <a:rPr lang="fi-FI" b="0" i="0" dirty="0" err="1">
                <a:effectLst/>
                <a:latin typeface="Söhne"/>
              </a:rPr>
              <a:t>promise</a:t>
            </a:r>
            <a:r>
              <a:rPr lang="fi-FI" b="0" i="0" dirty="0">
                <a:effectLst/>
                <a:latin typeface="Söhne"/>
              </a:rPr>
              <a:t>- eli lupauspohjaisen asynkronisen ohjelmoinnin. </a:t>
            </a:r>
            <a:r>
              <a:rPr lang="fi-FI" b="0" i="0" dirty="0" err="1">
                <a:effectLst/>
                <a:latin typeface="Söhne"/>
              </a:rPr>
              <a:t>Promiset</a:t>
            </a:r>
            <a:r>
              <a:rPr lang="fi-FI" b="0" i="0" dirty="0">
                <a:effectLst/>
                <a:latin typeface="Söhne"/>
              </a:rPr>
              <a:t> ovat lupaavia arvoja, jotka eivät ole vielä tiedossa luomishetkellä. Arvot voivat toteutua (</a:t>
            </a:r>
            <a:r>
              <a:rPr lang="fi-FI" b="0" i="0" dirty="0" err="1">
                <a:effectLst/>
                <a:latin typeface="Söhne"/>
              </a:rPr>
              <a:t>resolve</a:t>
            </a:r>
            <a:r>
              <a:rPr lang="fi-FI" b="0" i="0" dirty="0">
                <a:effectLst/>
                <a:latin typeface="Söhne"/>
              </a:rPr>
              <a:t>) tai epäonnistua (</a:t>
            </a:r>
            <a:r>
              <a:rPr lang="fi-FI" b="0" i="0" dirty="0" err="1">
                <a:effectLst/>
                <a:latin typeface="Söhne"/>
              </a:rPr>
              <a:t>reject</a:t>
            </a:r>
            <a:r>
              <a:rPr lang="fi-FI" b="0" i="0" dirty="0">
                <a:effectLst/>
                <a:latin typeface="Söhne"/>
              </a:rPr>
              <a:t>), ja </a:t>
            </a:r>
            <a:r>
              <a:rPr lang="fi-FI" b="0" i="0" dirty="0" err="1">
                <a:effectLst/>
                <a:latin typeface="Söhne"/>
              </a:rPr>
              <a:t>async</a:t>
            </a:r>
            <a:r>
              <a:rPr lang="fi-FI" b="0" i="0" dirty="0">
                <a:effectLst/>
                <a:latin typeface="Söhne"/>
              </a:rPr>
              <a:t>/</a:t>
            </a:r>
            <a:r>
              <a:rPr lang="fi-FI" b="0" i="0" dirty="0" err="1">
                <a:effectLst/>
                <a:latin typeface="Söhne"/>
              </a:rPr>
              <a:t>await</a:t>
            </a:r>
            <a:r>
              <a:rPr lang="fi-FI" b="0" i="0" dirty="0">
                <a:effectLst/>
                <a:latin typeface="Söhne"/>
              </a:rPr>
              <a:t> mahdollistaa niiden käsittelyn tavalla, joka muistuttaa synkronista ohjelmointia.</a:t>
            </a:r>
          </a:p>
          <a:p>
            <a:pPr algn="l"/>
            <a:r>
              <a:rPr lang="fi-FI" b="0" i="0" dirty="0" err="1">
                <a:effectLst/>
                <a:latin typeface="Söhne"/>
              </a:rPr>
              <a:t>Async</a:t>
            </a:r>
            <a:r>
              <a:rPr lang="fi-FI" b="0" i="0" dirty="0">
                <a:effectLst/>
                <a:latin typeface="Söhne"/>
              </a:rPr>
              <a:t>-funktioissa voi olla nolla tai useampi </a:t>
            </a:r>
            <a:r>
              <a:rPr lang="fi-FI" b="0" i="0" dirty="0" err="1">
                <a:effectLst/>
                <a:latin typeface="Söhne"/>
              </a:rPr>
              <a:t>await</a:t>
            </a:r>
            <a:r>
              <a:rPr lang="fi-FI" b="0" i="0" dirty="0">
                <a:effectLst/>
                <a:latin typeface="Söhne"/>
              </a:rPr>
              <a:t>-lauseke. </a:t>
            </a:r>
            <a:r>
              <a:rPr lang="fi-FI" b="0" i="0" dirty="0" err="1">
                <a:effectLst/>
                <a:latin typeface="Söhne"/>
              </a:rPr>
              <a:t>Await</a:t>
            </a:r>
            <a:r>
              <a:rPr lang="fi-FI" b="0" i="0" dirty="0">
                <a:effectLst/>
                <a:latin typeface="Söhne"/>
              </a:rPr>
              <a:t>-lausekkeet odottavat </a:t>
            </a:r>
            <a:r>
              <a:rPr lang="fi-FI" b="0" i="0" dirty="0" err="1">
                <a:effectLst/>
                <a:latin typeface="Söhne"/>
              </a:rPr>
              <a:t>promisejen</a:t>
            </a:r>
            <a:r>
              <a:rPr lang="fi-FI" b="0" i="0" dirty="0">
                <a:effectLst/>
                <a:latin typeface="Söhne"/>
              </a:rPr>
              <a:t> täyttymistä ennen kuin jatkavat suoritusta. Tämä mahdollistaa sen, että koodi ei etene ennen kuin kyseiset </a:t>
            </a:r>
            <a:r>
              <a:rPr lang="fi-FI" b="0" i="0" dirty="0" err="1">
                <a:effectLst/>
                <a:latin typeface="Söhne"/>
              </a:rPr>
              <a:t>promiset</a:t>
            </a:r>
            <a:r>
              <a:rPr lang="fi-FI" b="0" i="0" dirty="0">
                <a:effectLst/>
                <a:latin typeface="Söhne"/>
              </a:rPr>
              <a:t> on ratkaistu.</a:t>
            </a:r>
          </a:p>
          <a:p>
            <a:pPr algn="l"/>
            <a:r>
              <a:rPr lang="fi-FI" b="0" i="0" dirty="0" err="1">
                <a:effectLst/>
                <a:latin typeface="Söhne"/>
              </a:rPr>
              <a:t>Try</a:t>
            </a:r>
            <a:r>
              <a:rPr lang="fi-FI" b="0" i="0" dirty="0">
                <a:effectLst/>
                <a:latin typeface="Söhne"/>
              </a:rPr>
              <a:t>/</a:t>
            </a:r>
            <a:r>
              <a:rPr lang="fi-FI" b="0" i="0" dirty="0" err="1">
                <a:effectLst/>
                <a:latin typeface="Söhne"/>
              </a:rPr>
              <a:t>catch</a:t>
            </a:r>
            <a:r>
              <a:rPr lang="fi-FI" b="0" i="0" dirty="0">
                <a:effectLst/>
                <a:latin typeface="Söhne"/>
              </a:rPr>
              <a:t>-rakenne on tärkeä virheenkäsittelyssä asynkronisessa koodissa. Käsittelemättömät </a:t>
            </a:r>
            <a:r>
              <a:rPr lang="fi-FI" b="0" i="0" dirty="0" err="1">
                <a:effectLst/>
                <a:latin typeface="Söhne"/>
              </a:rPr>
              <a:t>promiset</a:t>
            </a:r>
            <a:r>
              <a:rPr lang="fi-FI" b="0" i="0" dirty="0">
                <a:effectLst/>
                <a:latin typeface="Söhne"/>
              </a:rPr>
              <a:t> voivat aiheuttaa odottamattoman ohjelman kaatumisen, ja </a:t>
            </a:r>
            <a:r>
              <a:rPr lang="fi-FI" b="0" i="0" dirty="0" err="1">
                <a:effectLst/>
                <a:latin typeface="Söhne"/>
              </a:rPr>
              <a:t>try</a:t>
            </a:r>
            <a:r>
              <a:rPr lang="fi-FI" b="0" i="0" dirty="0">
                <a:effectLst/>
                <a:latin typeface="Söhne"/>
              </a:rPr>
              <a:t>/</a:t>
            </a:r>
            <a:r>
              <a:rPr lang="fi-FI" b="0" i="0" dirty="0" err="1">
                <a:effectLst/>
                <a:latin typeface="Söhne"/>
              </a:rPr>
              <a:t>catch</a:t>
            </a:r>
            <a:r>
              <a:rPr lang="fi-FI" b="0" i="0" dirty="0">
                <a:effectLst/>
                <a:latin typeface="Söhne"/>
              </a:rPr>
              <a:t> auttaa suojaamaan koodin odottamattomilta virhetilanteilta.</a:t>
            </a:r>
          </a:p>
          <a:p>
            <a:pPr algn="l"/>
            <a:r>
              <a:rPr lang="fi-FI" b="0" i="0" dirty="0">
                <a:effectLst/>
                <a:latin typeface="Söhne"/>
              </a:rPr>
              <a:t>Express-kirjasto on hyödyllinen asynkronisen koodin käsittelyssä. Se tarjoaa </a:t>
            </a:r>
            <a:r>
              <a:rPr lang="fi-FI" b="0" i="0" dirty="0" err="1">
                <a:effectLst/>
                <a:latin typeface="Söhne"/>
              </a:rPr>
              <a:t>middleware</a:t>
            </a:r>
            <a:r>
              <a:rPr lang="fi-FI" b="0" i="0" dirty="0">
                <a:effectLst/>
                <a:latin typeface="Söhne"/>
              </a:rPr>
              <a:t>-rakenteen, joka mahdollistaa </a:t>
            </a:r>
            <a:r>
              <a:rPr lang="fi-FI" b="0" i="0" dirty="0" err="1">
                <a:effectLst/>
                <a:latin typeface="Söhne"/>
              </a:rPr>
              <a:t>requestien</a:t>
            </a:r>
            <a:r>
              <a:rPr lang="fi-FI" b="0" i="0" dirty="0">
                <a:effectLst/>
                <a:latin typeface="Söhne"/>
              </a:rPr>
              <a:t> käsittelyn ja reitityksen selkeällä ja modulaarisella tavalla.</a:t>
            </a:r>
          </a:p>
        </p:txBody>
      </p:sp>
    </p:spTree>
    <p:extLst>
      <p:ext uri="{BB962C8B-B14F-4D97-AF65-F5344CB8AC3E}">
        <p14:creationId xmlns:p14="http://schemas.microsoft.com/office/powerpoint/2010/main" val="36392140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1D5E04D0-CF8F-932B-6738-A4AA8ACDD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Osa 5 – Kirjautuminen </a:t>
            </a:r>
            <a:r>
              <a:rPr lang="fi-FI" dirty="0" err="1"/>
              <a:t>frontista</a:t>
            </a:r>
            <a:endParaRPr lang="fi-FI" dirty="0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CC3180A6-E74E-ACE1-EC63-86F0D2778B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/>
              <a:t>Jaetaan omiksi komponenteiksi kirjautuminen, blogit, </a:t>
            </a:r>
            <a:r>
              <a:rPr lang="fi-FI" dirty="0" err="1"/>
              <a:t>login</a:t>
            </a:r>
            <a:r>
              <a:rPr lang="fi-FI" dirty="0"/>
              <a:t>, lomakkeet jne. tämä suoraviivaistaa ohjelman kehittämistä</a:t>
            </a:r>
          </a:p>
          <a:p>
            <a:r>
              <a:rPr lang="fi-FI" dirty="0"/>
              <a:t>Hyödynnetään propseja eli komponentille voi määritellä lapsikomponentteja, komponentti voidaan </a:t>
            </a:r>
            <a:r>
              <a:rPr lang="fi-FI" dirty="0" err="1"/>
              <a:t>renderoida</a:t>
            </a:r>
            <a:r>
              <a:rPr lang="fi-FI" dirty="0"/>
              <a:t> esim. napin takaa näkyviin tekemällä viittaus eli </a:t>
            </a:r>
            <a:r>
              <a:rPr lang="fi-FI" dirty="0" err="1"/>
              <a:t>Ref</a:t>
            </a:r>
            <a:r>
              <a:rPr lang="fi-FI" dirty="0"/>
              <a:t> komponenttiin esim. </a:t>
            </a:r>
            <a:r>
              <a:rPr lang="fi-FI" dirty="0" err="1"/>
              <a:t>ref</a:t>
            </a:r>
            <a:r>
              <a:rPr lang="fi-FI" dirty="0"/>
              <a:t>={komponentti}</a:t>
            </a:r>
          </a:p>
          <a:p>
            <a:pPr lvl="1"/>
            <a:r>
              <a:rPr lang="fi-FI" dirty="0"/>
              <a:t>Jotta </a:t>
            </a:r>
            <a:r>
              <a:rPr lang="fi-FI" dirty="0" err="1"/>
              <a:t>props</a:t>
            </a:r>
            <a:r>
              <a:rPr lang="fi-FI" dirty="0"/>
              <a:t> toimii oikein pitää määritellä </a:t>
            </a:r>
            <a:r>
              <a:rPr lang="fi-FI" dirty="0" err="1"/>
              <a:t>propstypet</a:t>
            </a:r>
            <a:r>
              <a:rPr lang="fi-FI" dirty="0"/>
              <a:t> esim. </a:t>
            </a:r>
            <a:r>
              <a:rPr lang="fi-FI" dirty="0" err="1"/>
              <a:t>username</a:t>
            </a:r>
            <a:r>
              <a:rPr lang="fi-FI" dirty="0"/>
              <a:t>: </a:t>
            </a:r>
            <a:r>
              <a:rPr lang="fi-FI" dirty="0" err="1"/>
              <a:t>PropTypes.string.isRequired</a:t>
            </a:r>
            <a:br>
              <a:rPr lang="fi-FI" dirty="0"/>
            </a:br>
            <a:endParaRPr lang="fi-FI" dirty="0"/>
          </a:p>
          <a:p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14751666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0985ABD8-7965-941C-D774-53EA85E86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Osa 5 – </a:t>
            </a:r>
            <a:r>
              <a:rPr lang="fi-FI" dirty="0" err="1"/>
              <a:t>Frontend</a:t>
            </a:r>
            <a:r>
              <a:rPr lang="fi-FI" dirty="0"/>
              <a:t> testaus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0F6F5DD1-72CB-1613-5D9D-90A73A33CC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 err="1"/>
              <a:t>End</a:t>
            </a:r>
            <a:r>
              <a:rPr lang="fi-FI" dirty="0"/>
              <a:t>-to-</a:t>
            </a:r>
            <a:r>
              <a:rPr lang="fi-FI" dirty="0" err="1"/>
              <a:t>end</a:t>
            </a:r>
            <a:r>
              <a:rPr lang="fi-FI" dirty="0"/>
              <a:t> testaus simuloi käyttäjän tekemiä toimenpiteitä ohjelmassa. Tämä testausmenetelmä varmistaa, että ohjelma toimii halutulla tavalla kaikkien osien välillä kuten tietokanta ja käyttöliittymä.</a:t>
            </a:r>
          </a:p>
          <a:p>
            <a:pPr lvl="1"/>
            <a:r>
              <a:rPr lang="fi-FI" dirty="0"/>
              <a:t>Testiympäristön määrittely, joka simuloi todellista käyttöympäristöä</a:t>
            </a:r>
          </a:p>
          <a:p>
            <a:pPr lvl="1"/>
            <a:r>
              <a:rPr lang="fi-FI" dirty="0"/>
              <a:t>Skenaarioiden ja testitapauksien määrittely</a:t>
            </a:r>
          </a:p>
          <a:p>
            <a:pPr lvl="1"/>
            <a:r>
              <a:rPr lang="fi-FI" dirty="0"/>
              <a:t>Testiympäristön asettaminen mm. konfigurointi ja testidatan syöttäminen</a:t>
            </a:r>
          </a:p>
          <a:p>
            <a:pPr lvl="1"/>
            <a:r>
              <a:rPr lang="fi-FI" dirty="0"/>
              <a:t>Testien suoritus esim. API-kutsuja ja nappien klikkauksia</a:t>
            </a:r>
          </a:p>
          <a:p>
            <a:pPr lvl="1"/>
            <a:r>
              <a:rPr lang="fi-FI" dirty="0"/>
              <a:t>Tulosten analysointi</a:t>
            </a:r>
          </a:p>
        </p:txBody>
      </p:sp>
    </p:spTree>
    <p:extLst>
      <p:ext uri="{BB962C8B-B14F-4D97-AF65-F5344CB8AC3E}">
        <p14:creationId xmlns:p14="http://schemas.microsoft.com/office/powerpoint/2010/main" val="9751473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E889A21A-4E3C-97EC-435C-07D4AD9BA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Osa 6 – </a:t>
            </a:r>
            <a:r>
              <a:rPr lang="fi-FI" dirty="0" err="1"/>
              <a:t>Redux</a:t>
            </a:r>
            <a:endParaRPr lang="fi-FI" dirty="0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D0B704B0-0289-5BFC-55F2-EC5661ADF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i-FI" b="0" i="0" dirty="0" err="1">
                <a:effectLst/>
                <a:latin typeface="Söhne"/>
              </a:rPr>
              <a:t>Redux</a:t>
            </a:r>
            <a:r>
              <a:rPr lang="fi-FI" b="0" i="0" dirty="0">
                <a:effectLst/>
                <a:latin typeface="Söhne"/>
              </a:rPr>
              <a:t> on tilanhallintakirjasto, joka perustuu </a:t>
            </a:r>
            <a:r>
              <a:rPr lang="fi-FI" b="0" i="0" dirty="0" err="1">
                <a:effectLst/>
                <a:latin typeface="Söhne"/>
              </a:rPr>
              <a:t>Fluxin</a:t>
            </a:r>
            <a:r>
              <a:rPr lang="fi-FI" b="0" i="0" dirty="0">
                <a:effectLst/>
                <a:latin typeface="Söhne"/>
              </a:rPr>
              <a:t> periaatteisiin. Se tarjoaa ennakoitavan tilanhallintaratkaisun, joka keskittyy yksinkertaiseen, ennustettavaan tilanhallintaan sovelluksissa.</a:t>
            </a:r>
          </a:p>
          <a:p>
            <a:r>
              <a:rPr lang="fi-FI" b="0" i="0" dirty="0" err="1">
                <a:effectLst/>
                <a:latin typeface="Söhne"/>
              </a:rPr>
              <a:t>Reduxissa</a:t>
            </a:r>
            <a:r>
              <a:rPr lang="fi-FI" b="0" i="0" dirty="0">
                <a:effectLst/>
                <a:latin typeface="Söhne"/>
              </a:rPr>
              <a:t> tila säilytetään yhdessä "</a:t>
            </a:r>
            <a:r>
              <a:rPr lang="fi-FI" b="0" i="0" dirty="0" err="1">
                <a:effectLst/>
                <a:latin typeface="Söhne"/>
              </a:rPr>
              <a:t>store</a:t>
            </a:r>
            <a:r>
              <a:rPr lang="fi-FI" b="0" i="0" dirty="0">
                <a:effectLst/>
                <a:latin typeface="Söhne"/>
              </a:rPr>
              <a:t>"-nimisessä paikassa, ja tilaa muutetaan vain "action"-nimisillä tapahtumilla. </a:t>
            </a:r>
            <a:r>
              <a:rPr lang="fi-FI" b="0" i="0" dirty="0" err="1">
                <a:effectLst/>
                <a:latin typeface="Söhne"/>
              </a:rPr>
              <a:t>Reducer</a:t>
            </a:r>
            <a:r>
              <a:rPr lang="fi-FI" b="0" i="0" dirty="0">
                <a:effectLst/>
                <a:latin typeface="Söhne"/>
              </a:rPr>
              <a:t>-funktiot määrittävät, miten sovelluksen tila muuttuu jokaisen actionin jälkeen. </a:t>
            </a:r>
          </a:p>
          <a:p>
            <a:r>
              <a:rPr lang="fi-FI" b="0" i="0" dirty="0" err="1">
                <a:effectLst/>
                <a:latin typeface="Söhne"/>
              </a:rPr>
              <a:t>Reduxin</a:t>
            </a:r>
            <a:r>
              <a:rPr lang="fi-FI" b="0" i="0" dirty="0">
                <a:effectLst/>
                <a:latin typeface="Söhne"/>
              </a:rPr>
              <a:t> tärkeä piirre on se, että tila on </a:t>
            </a:r>
            <a:r>
              <a:rPr lang="fi-FI" b="0" i="0" dirty="0" err="1">
                <a:effectLst/>
                <a:latin typeface="Söhne"/>
              </a:rPr>
              <a:t>immuuttavaa</a:t>
            </a:r>
            <a:r>
              <a:rPr lang="fi-FI" b="0" i="0" dirty="0">
                <a:effectLst/>
                <a:latin typeface="Söhne"/>
              </a:rPr>
              <a:t>, eli sitä ei muuteta suoraan, vaan joka kerta luodaan uusi tila, joka perustuu edelliseen tilaan ja actioniin. Laskuriesimerkissä 3 erilaista actionia, jotka kasvavat napin painalluksesta. Laskurin resetoinnilla palautetaan alkuarvot.</a:t>
            </a:r>
          </a:p>
        </p:txBody>
      </p:sp>
    </p:spTree>
    <p:extLst>
      <p:ext uri="{BB962C8B-B14F-4D97-AF65-F5344CB8AC3E}">
        <p14:creationId xmlns:p14="http://schemas.microsoft.com/office/powerpoint/2010/main" val="4767213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B2A3CB92-E32B-30A0-0AEA-09240DF8F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Osa 6 – useampi </a:t>
            </a:r>
            <a:r>
              <a:rPr lang="fi-FI" dirty="0" err="1"/>
              <a:t>reduceri</a:t>
            </a:r>
            <a:r>
              <a:rPr lang="fi-FI" dirty="0"/>
              <a:t> ja palvelinyhteys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CC3E2AFA-02B6-3801-4F00-2164FD1887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i-FI" dirty="0" err="1"/>
              <a:t>Reducerit</a:t>
            </a:r>
            <a:r>
              <a:rPr lang="fi-FI" dirty="0"/>
              <a:t> yhdistetään </a:t>
            </a:r>
            <a:r>
              <a:rPr lang="fi-FI" dirty="0" err="1"/>
              <a:t>RootReduceriksi</a:t>
            </a:r>
            <a:r>
              <a:rPr lang="fi-FI" dirty="0"/>
              <a:t> ja tämän sisällä voi olla useampi </a:t>
            </a:r>
            <a:r>
              <a:rPr lang="fi-FI" dirty="0" err="1"/>
              <a:t>reducer</a:t>
            </a:r>
            <a:r>
              <a:rPr lang="fi-FI" dirty="0"/>
              <a:t>. Tämä </a:t>
            </a:r>
            <a:r>
              <a:rPr lang="fi-FI" dirty="0" err="1"/>
              <a:t>juurireduceri</a:t>
            </a:r>
            <a:r>
              <a:rPr lang="fi-FI" dirty="0"/>
              <a:t> on siten käytössä koko sovelluksessa määrittämään kunkin hetkistä tilaa</a:t>
            </a:r>
          </a:p>
          <a:p>
            <a:pPr lvl="1"/>
            <a:r>
              <a:rPr lang="fi-FI" b="1" i="0" dirty="0">
                <a:effectLst/>
                <a:latin typeface="Söhne"/>
              </a:rPr>
              <a:t>Edellinen tila (</a:t>
            </a:r>
            <a:r>
              <a:rPr lang="fi-FI" b="1" i="0" dirty="0" err="1">
                <a:effectLst/>
                <a:latin typeface="Söhne"/>
              </a:rPr>
              <a:t>previous</a:t>
            </a:r>
            <a:r>
              <a:rPr lang="fi-FI" b="1" i="0" dirty="0">
                <a:effectLst/>
                <a:latin typeface="Söhne"/>
              </a:rPr>
              <a:t> </a:t>
            </a:r>
            <a:r>
              <a:rPr lang="fi-FI" b="1" i="0" dirty="0" err="1">
                <a:effectLst/>
                <a:latin typeface="Söhne"/>
              </a:rPr>
              <a:t>state</a:t>
            </a:r>
            <a:r>
              <a:rPr lang="fi-FI" b="1" i="0" dirty="0">
                <a:effectLst/>
                <a:latin typeface="Söhne"/>
              </a:rPr>
              <a:t>):</a:t>
            </a:r>
            <a:r>
              <a:rPr lang="fi-FI" b="0" i="0" dirty="0">
                <a:effectLst/>
                <a:latin typeface="Söhne"/>
              </a:rPr>
              <a:t> Tämä on tila ennen kuin </a:t>
            </a:r>
            <a:r>
              <a:rPr lang="fi-FI" b="0" i="0" dirty="0" err="1">
                <a:effectLst/>
                <a:latin typeface="Söhne"/>
              </a:rPr>
              <a:t>reducer</a:t>
            </a:r>
            <a:r>
              <a:rPr lang="fi-FI" b="0" i="0" dirty="0">
                <a:effectLst/>
                <a:latin typeface="Söhne"/>
              </a:rPr>
              <a:t> on suoritettu. </a:t>
            </a:r>
            <a:r>
              <a:rPr lang="fi-FI" b="0" i="0" dirty="0" err="1">
                <a:effectLst/>
                <a:latin typeface="Söhne"/>
              </a:rPr>
              <a:t>Reducer</a:t>
            </a:r>
            <a:r>
              <a:rPr lang="fi-FI" b="0" i="0" dirty="0">
                <a:effectLst/>
                <a:latin typeface="Söhne"/>
              </a:rPr>
              <a:t> käsittelee tätä tilaa ja tuottaa uuden tilan.</a:t>
            </a:r>
          </a:p>
          <a:p>
            <a:pPr lvl="1"/>
            <a:r>
              <a:rPr lang="fi-FI" b="1" i="0" dirty="0">
                <a:effectLst/>
                <a:latin typeface="Söhne"/>
              </a:rPr>
              <a:t>Action-objekti:</a:t>
            </a:r>
            <a:r>
              <a:rPr lang="fi-FI" b="0" i="0" dirty="0">
                <a:effectLst/>
                <a:latin typeface="Söhne"/>
              </a:rPr>
              <a:t> Action-objekti on tieto siitä, mitä tapahtui sovelluksessa. Se sisältää tiedon siitä, mitä muutosta on pyydetty tekemään tilaan esim. </a:t>
            </a:r>
            <a:r>
              <a:rPr lang="fi-FI" b="0" i="0" dirty="0" err="1">
                <a:effectLst/>
                <a:latin typeface="Söhne"/>
              </a:rPr>
              <a:t>filtteröinti</a:t>
            </a:r>
            <a:r>
              <a:rPr lang="fi-FI" b="0" i="0" dirty="0">
                <a:effectLst/>
                <a:latin typeface="Söhne"/>
              </a:rPr>
              <a:t> antaa tuloksia tai nappi lisää +1 edelliseen arvoon</a:t>
            </a:r>
          </a:p>
          <a:p>
            <a:pPr lvl="1"/>
            <a:endParaRPr lang="fi-FI" dirty="0"/>
          </a:p>
          <a:p>
            <a:r>
              <a:rPr lang="fi-FI" dirty="0" err="1"/>
              <a:t>Redux</a:t>
            </a:r>
            <a:r>
              <a:rPr lang="fi-FI" dirty="0"/>
              <a:t> </a:t>
            </a:r>
            <a:r>
              <a:rPr lang="fi-FI" dirty="0" err="1"/>
              <a:t>Thunk</a:t>
            </a:r>
            <a:r>
              <a:rPr lang="fi-FI" dirty="0"/>
              <a:t> mahdollistaa suorittaa </a:t>
            </a:r>
            <a:r>
              <a:rPr lang="fi-FI" dirty="0" err="1"/>
              <a:t>async</a:t>
            </a:r>
            <a:r>
              <a:rPr lang="fi-FI" dirty="0"/>
              <a:t> toimintoja, kuten tietokantakyselyitä tai HTTP-pyyntöjä. </a:t>
            </a:r>
            <a:r>
              <a:rPr lang="fi-FI" b="0" i="0" dirty="0" err="1">
                <a:effectLst/>
                <a:latin typeface="Söhne"/>
              </a:rPr>
              <a:t>Redux</a:t>
            </a:r>
            <a:r>
              <a:rPr lang="fi-FI" b="0" i="0" dirty="0">
                <a:effectLst/>
                <a:latin typeface="Söhne"/>
              </a:rPr>
              <a:t> </a:t>
            </a:r>
            <a:r>
              <a:rPr lang="fi-FI" b="0" i="0" dirty="0" err="1">
                <a:effectLst/>
                <a:latin typeface="Söhne"/>
              </a:rPr>
              <a:t>Thunkin</a:t>
            </a:r>
            <a:r>
              <a:rPr lang="fi-FI" b="0" i="0" dirty="0">
                <a:effectLst/>
                <a:latin typeface="Söhne"/>
              </a:rPr>
              <a:t> avulla voidaan luoda action </a:t>
            </a:r>
            <a:r>
              <a:rPr lang="fi-FI" b="0" i="0" dirty="0" err="1">
                <a:effectLst/>
                <a:latin typeface="Söhne"/>
              </a:rPr>
              <a:t>creatoreita</a:t>
            </a:r>
            <a:r>
              <a:rPr lang="fi-FI" b="0" i="0" dirty="0">
                <a:effectLst/>
                <a:latin typeface="Söhne"/>
              </a:rPr>
              <a:t>, jotka voivat odottaa asynkronisen toimenpiteen valmistumista ennen varsinaisen actionin </a:t>
            </a:r>
            <a:r>
              <a:rPr lang="fi-FI" b="0" i="0" dirty="0" err="1">
                <a:effectLst/>
                <a:latin typeface="Söhne"/>
              </a:rPr>
              <a:t>dispatchaamista</a:t>
            </a:r>
            <a:r>
              <a:rPr lang="fi-FI" b="0" i="0" dirty="0">
                <a:effectLst/>
                <a:latin typeface="Söhne"/>
              </a:rPr>
              <a:t>. Tämä tekee mahdolliseksi esimerkiksi datan hakemisen palvelimelta ja sen päivittämisen </a:t>
            </a:r>
            <a:r>
              <a:rPr lang="fi-FI" b="0" i="0" dirty="0" err="1">
                <a:effectLst/>
                <a:latin typeface="Söhne"/>
              </a:rPr>
              <a:t>Redux</a:t>
            </a:r>
            <a:r>
              <a:rPr lang="fi-FI" b="0" i="0" dirty="0">
                <a:effectLst/>
                <a:latin typeface="Söhne"/>
              </a:rPr>
              <a:t>-tilaan vasta, kun data on saatu ja käsitelty.</a:t>
            </a:r>
            <a:endParaRPr lang="fi-FI" dirty="0"/>
          </a:p>
          <a:p>
            <a:pPr lvl="1"/>
            <a:endParaRPr lang="fi-FI" dirty="0">
              <a:latin typeface="Söhne"/>
            </a:endParaRPr>
          </a:p>
          <a:p>
            <a:pPr marL="457200" lvl="1" indent="0">
              <a:buNone/>
            </a:pPr>
            <a:endParaRPr lang="fi-FI" b="0" i="0" dirty="0"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3692778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4AFE1834-2899-A9AA-B87C-B5F90CC3B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Osa 6 – </a:t>
            </a:r>
            <a:r>
              <a:rPr lang="fi-FI" dirty="0" err="1"/>
              <a:t>React</a:t>
            </a:r>
            <a:r>
              <a:rPr lang="fi-FI" dirty="0"/>
              <a:t> </a:t>
            </a:r>
            <a:r>
              <a:rPr lang="fi-FI" dirty="0" err="1"/>
              <a:t>Query</a:t>
            </a:r>
            <a:r>
              <a:rPr lang="fi-FI" dirty="0"/>
              <a:t> ja tilan hallinta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42E59ED2-A906-C4D6-26EB-BB55728C75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i-FI" dirty="0"/>
              <a:t>Hyödyntämällä </a:t>
            </a:r>
            <a:r>
              <a:rPr lang="fi-FI" dirty="0" err="1"/>
              <a:t>React</a:t>
            </a:r>
            <a:r>
              <a:rPr lang="fi-FI" dirty="0"/>
              <a:t> </a:t>
            </a:r>
            <a:r>
              <a:rPr lang="fi-FI" dirty="0" err="1"/>
              <a:t>Query</a:t>
            </a:r>
            <a:r>
              <a:rPr lang="fi-FI" dirty="0"/>
              <a:t> –kirjastoa optimoidaan sovelluksen tehokkuutta. Kirjasto on suunniteltu REST ja </a:t>
            </a:r>
            <a:r>
              <a:rPr lang="fi-FI" dirty="0" err="1"/>
              <a:t>GraphQL</a:t>
            </a:r>
            <a:r>
              <a:rPr lang="fi-FI" dirty="0"/>
              <a:t> palvelimien kanssa kommunikointiin.</a:t>
            </a:r>
          </a:p>
          <a:p>
            <a:pPr lvl="1"/>
            <a:r>
              <a:rPr lang="fi-FI" dirty="0"/>
              <a:t>Helppokäyttöinen, koodin määrä lyhenee. Pyynnöt voidaan keskittää esim. yhteen tiedostoon</a:t>
            </a:r>
          </a:p>
          <a:p>
            <a:pPr lvl="1"/>
            <a:r>
              <a:rPr lang="fi-FI" dirty="0"/>
              <a:t>Välimuistin hallinta, data haetaan välimuistista, jos sama data haetaan uudelleen se palautetaan välimuistista</a:t>
            </a:r>
          </a:p>
          <a:p>
            <a:pPr lvl="1"/>
            <a:r>
              <a:rPr lang="fi-FI" dirty="0"/>
              <a:t>Sisäänrakennettu virheenkäsittely</a:t>
            </a:r>
          </a:p>
          <a:p>
            <a:pPr lvl="1"/>
            <a:r>
              <a:rPr lang="fi-FI" dirty="0"/>
              <a:t>Dataa voidaan ”ajaa” kaksisuuntaisesti ja reaaliaikaisesti </a:t>
            </a:r>
            <a:r>
              <a:rPr lang="fi-FI" dirty="0" err="1"/>
              <a:t>WebSocket</a:t>
            </a:r>
            <a:r>
              <a:rPr lang="fi-FI" dirty="0"/>
              <a:t> </a:t>
            </a:r>
            <a:r>
              <a:rPr lang="fi-FI" dirty="0" err="1"/>
              <a:t>kommunikointiprokollana</a:t>
            </a:r>
            <a:r>
              <a:rPr lang="fi-FI" dirty="0"/>
              <a:t>, jota käytetään mm. Live </a:t>
            </a:r>
            <a:r>
              <a:rPr lang="fi-FI" dirty="0" err="1"/>
              <a:t>streamissa</a:t>
            </a:r>
            <a:r>
              <a:rPr lang="fi-FI" dirty="0"/>
              <a:t>, </a:t>
            </a:r>
            <a:r>
              <a:rPr lang="fi-FI" dirty="0" err="1"/>
              <a:t>chat</a:t>
            </a:r>
            <a:r>
              <a:rPr lang="fi-FI" dirty="0"/>
              <a:t>-palveluissa, pelialustoilla ja vastaavilla, joissa tarvitaan katkeamatonta tiedonsiirtoa</a:t>
            </a:r>
          </a:p>
        </p:txBody>
      </p:sp>
    </p:spTree>
    <p:extLst>
      <p:ext uri="{BB962C8B-B14F-4D97-AF65-F5344CB8AC3E}">
        <p14:creationId xmlns:p14="http://schemas.microsoft.com/office/powerpoint/2010/main" val="1508288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6B8BC197-18DF-60A1-73E2-DC40CAB76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Osa 7 – </a:t>
            </a:r>
            <a:r>
              <a:rPr lang="fi-FI" dirty="0" err="1"/>
              <a:t>Router</a:t>
            </a:r>
            <a:r>
              <a:rPr lang="fi-FI" dirty="0"/>
              <a:t>, navigointi ja uudelleenohjaus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2406CCAF-BEDE-7894-3830-2998F0AC6A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fi-FI" dirty="0"/>
              <a:t>Hyödynnetään </a:t>
            </a:r>
            <a:r>
              <a:rPr lang="fi-FI" dirty="0" err="1"/>
              <a:t>React</a:t>
            </a:r>
            <a:r>
              <a:rPr lang="fi-FI" dirty="0"/>
              <a:t> </a:t>
            </a:r>
            <a:r>
              <a:rPr lang="fi-FI" dirty="0" err="1"/>
              <a:t>Router</a:t>
            </a:r>
            <a:r>
              <a:rPr lang="fi-FI" dirty="0"/>
              <a:t> kirjastoa, jolla voidaan hallita sovelluksen sisällä tapahtuvaa liikkumista, navigointipalkkiin voidaan sijoittaa linkitykset joiden avulla käyttäjä pääsee vaihtamaan näkymiä komponenttien välillä</a:t>
            </a:r>
          </a:p>
          <a:p>
            <a:r>
              <a:rPr lang="fi-FI" dirty="0" err="1"/>
              <a:t>UseNavigate</a:t>
            </a:r>
            <a:r>
              <a:rPr lang="fi-FI" dirty="0"/>
              <a:t> voidaan </a:t>
            </a:r>
            <a:r>
              <a:rPr lang="fi-FI" dirty="0" err="1"/>
              <a:t>hyödyntään</a:t>
            </a:r>
            <a:r>
              <a:rPr lang="fi-FI" dirty="0"/>
              <a:t> mm. </a:t>
            </a:r>
            <a:r>
              <a:rPr lang="fi-FI" dirty="0" err="1"/>
              <a:t>Login</a:t>
            </a:r>
            <a:r>
              <a:rPr lang="fi-FI" dirty="0"/>
              <a:t> näkymien renderöimiseksi esim. käyttäjälle näytetään enemmän tietoja, kun on kirjauduttu sisään. </a:t>
            </a:r>
          </a:p>
          <a:p>
            <a:r>
              <a:rPr lang="fi-FI" dirty="0"/>
              <a:t>Jos käyttäjä ei ole kirjautunut sisään navigointi ohjaa suoraan </a:t>
            </a:r>
            <a:r>
              <a:rPr lang="fi-FI" dirty="0" err="1"/>
              <a:t>Login</a:t>
            </a:r>
            <a:r>
              <a:rPr lang="fi-FI" dirty="0"/>
              <a:t> –näkymään, mikäli jokin toiminto edellyttää kirjautumista. Tosiasiallisesti järkevintä on piilottaa kaikki käyttäjään viittaavat näkymät mikäli käyttäjä ei ole kirjautunut sisään (tämä oli vain esimerkkinä)</a:t>
            </a:r>
          </a:p>
        </p:txBody>
      </p:sp>
    </p:spTree>
    <p:extLst>
      <p:ext uri="{BB962C8B-B14F-4D97-AF65-F5344CB8AC3E}">
        <p14:creationId xmlns:p14="http://schemas.microsoft.com/office/powerpoint/2010/main" val="445095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B310D6D8-8CC7-0AFC-B631-3D6CBE6B8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Osa 7 – </a:t>
            </a:r>
            <a:r>
              <a:rPr lang="fi-FI" dirty="0" err="1"/>
              <a:t>Hooks</a:t>
            </a:r>
            <a:r>
              <a:rPr lang="fi-FI" dirty="0"/>
              <a:t> ja </a:t>
            </a:r>
            <a:r>
              <a:rPr lang="fi-FI" dirty="0" err="1"/>
              <a:t>Spreads</a:t>
            </a:r>
            <a:r>
              <a:rPr lang="fi-FI" dirty="0"/>
              <a:t> attribuutit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34A138DE-304F-1724-2B21-B57F9DE0BA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i-FI" dirty="0"/>
              <a:t>Valmiina 15 erilaista </a:t>
            </a:r>
            <a:r>
              <a:rPr lang="fi-FI" dirty="0" err="1"/>
              <a:t>hookkia</a:t>
            </a:r>
            <a:r>
              <a:rPr lang="fi-FI" dirty="0"/>
              <a:t>, joista käytetyin </a:t>
            </a:r>
            <a:r>
              <a:rPr lang="fi-FI" dirty="0" err="1"/>
              <a:t>UseState</a:t>
            </a:r>
            <a:r>
              <a:rPr lang="fi-FI" dirty="0"/>
              <a:t> ja </a:t>
            </a:r>
            <a:r>
              <a:rPr lang="fi-FI" dirty="0" err="1"/>
              <a:t>UseEffect</a:t>
            </a:r>
            <a:r>
              <a:rPr lang="fi-FI" dirty="0"/>
              <a:t>. </a:t>
            </a:r>
            <a:r>
              <a:rPr lang="fi-FI" dirty="0" err="1"/>
              <a:t>Reactissa</a:t>
            </a:r>
            <a:r>
              <a:rPr lang="fi-FI" dirty="0"/>
              <a:t> on myös mahdollista tehdä itse </a:t>
            </a:r>
            <a:r>
              <a:rPr lang="fi-FI" dirty="0" err="1"/>
              <a:t>hookkeja</a:t>
            </a:r>
            <a:r>
              <a:rPr lang="fi-FI" dirty="0"/>
              <a:t> eli </a:t>
            </a:r>
            <a:r>
              <a:rPr lang="fi-FI" dirty="0" err="1"/>
              <a:t>CustomHookkeja</a:t>
            </a:r>
            <a:r>
              <a:rPr lang="fi-FI" dirty="0"/>
              <a:t>, näiden määrittely pitää aina alkaa sanalla ’</a:t>
            </a:r>
            <a:r>
              <a:rPr lang="fi-FI" dirty="0" err="1"/>
              <a:t>use</a:t>
            </a:r>
            <a:r>
              <a:rPr lang="fi-FI" dirty="0"/>
              <a:t>’</a:t>
            </a:r>
          </a:p>
          <a:p>
            <a:pPr lvl="1"/>
            <a:r>
              <a:rPr lang="fi-FI" dirty="0" err="1"/>
              <a:t>CustomHookkeja</a:t>
            </a:r>
            <a:r>
              <a:rPr lang="fi-FI" dirty="0"/>
              <a:t> voi hyödyntää siten koko sovelluksessa, esim. laskuri tai vastaava mikäli sellaista tarvitaan useammassa eri komponentissa</a:t>
            </a:r>
          </a:p>
          <a:p>
            <a:r>
              <a:rPr lang="fi-FI" dirty="0" err="1"/>
              <a:t>Spreads</a:t>
            </a:r>
            <a:r>
              <a:rPr lang="fi-FI" dirty="0"/>
              <a:t> attribuutit välittävät tietoa samalla tavalla kuin Propsit mutta huomattavasti yksinkertaisemmalla logiikalla esim. &lt;input {…</a:t>
            </a:r>
            <a:r>
              <a:rPr lang="fi-FI" dirty="0" err="1"/>
              <a:t>name</a:t>
            </a:r>
            <a:r>
              <a:rPr lang="fi-FI" dirty="0"/>
              <a:t>} /&gt;</a:t>
            </a:r>
          </a:p>
          <a:p>
            <a:pPr lvl="1"/>
            <a:r>
              <a:rPr lang="fi-FI" dirty="0"/>
              <a:t>Etuina sovellus pelkistyy ja </a:t>
            </a:r>
            <a:r>
              <a:rPr lang="fi-FI" dirty="0" err="1"/>
              <a:t>yksinkertaisuu</a:t>
            </a:r>
            <a:r>
              <a:rPr lang="fi-FI" dirty="0"/>
              <a:t> huomattavasti, kun kaikki detaljit on kapseloitu </a:t>
            </a:r>
            <a:r>
              <a:rPr lang="fi-FI" dirty="0" err="1"/>
              <a:t>customhookin</a:t>
            </a:r>
            <a:r>
              <a:rPr lang="fi-FI" dirty="0"/>
              <a:t> sisälle</a:t>
            </a:r>
          </a:p>
          <a:p>
            <a:pPr lvl="1"/>
            <a:r>
              <a:rPr lang="fi-FI" dirty="0" err="1"/>
              <a:t>Customhookit</a:t>
            </a:r>
            <a:r>
              <a:rPr lang="fi-FI" dirty="0"/>
              <a:t> mahdollistavat koodin jakamisen entistä pienempiin ja modulaarisiin osiin</a:t>
            </a:r>
          </a:p>
          <a:p>
            <a:pPr marL="457200" lvl="1" indent="0">
              <a:buNone/>
            </a:pP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9017556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687E0201-FAD8-28B4-56EB-83B2F81AB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Osa 7 – Tyylit ja </a:t>
            </a:r>
            <a:r>
              <a:rPr lang="fi-FI" dirty="0" err="1"/>
              <a:t>webpack</a:t>
            </a:r>
            <a:endParaRPr lang="fi-FI" dirty="0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3C040AD9-0AE7-7463-A062-2888C1C78B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fi-FI" dirty="0" err="1"/>
              <a:t>Reactiin</a:t>
            </a:r>
            <a:r>
              <a:rPr lang="fi-FI" dirty="0"/>
              <a:t> on saatavilla useita eri tyylikirjastoja, näistä tunnetuin lienee </a:t>
            </a:r>
            <a:r>
              <a:rPr lang="fi-FI" dirty="0" err="1"/>
              <a:t>Bootstrap</a:t>
            </a:r>
            <a:r>
              <a:rPr lang="fi-FI" dirty="0"/>
              <a:t>. Tyylien avulla sovelluksen ulkonäköä voidaan muokata jouhevasti valmiiksi määritetyillä tyyliasetuksilla</a:t>
            </a:r>
          </a:p>
          <a:p>
            <a:r>
              <a:rPr lang="fi-FI" dirty="0" err="1"/>
              <a:t>Webpack</a:t>
            </a:r>
            <a:r>
              <a:rPr lang="fi-FI" dirty="0"/>
              <a:t> on työkalu jolla voi pakata useita moduuleita yhdeksi. Se käsittelee useita eri </a:t>
            </a:r>
            <a:r>
              <a:rPr lang="fi-FI" dirty="0" err="1"/>
              <a:t>tiedostotyyppeja</a:t>
            </a:r>
            <a:r>
              <a:rPr lang="fi-FI" dirty="0"/>
              <a:t> ja luo niistä riippuvuusgraafin, joka määrittelee mitä tiedostoja sisällytetään pakettiin. Työkalu auttaa hallitsemaan sovelluksen monimutkaisia riippuvaisuuksia ja rakennetta</a:t>
            </a:r>
          </a:p>
          <a:p>
            <a:pPr lvl="1"/>
            <a:r>
              <a:rPr lang="fi-FI" dirty="0" err="1"/>
              <a:t>Entry</a:t>
            </a:r>
            <a:r>
              <a:rPr lang="fi-FI" dirty="0"/>
              <a:t>: määrittää paketin tiedostot</a:t>
            </a:r>
          </a:p>
          <a:p>
            <a:pPr lvl="1"/>
            <a:r>
              <a:rPr lang="fi-FI" dirty="0"/>
              <a:t>Output: määrittää minne paketin tiedostot luodaan</a:t>
            </a:r>
          </a:p>
          <a:p>
            <a:pPr lvl="1"/>
            <a:r>
              <a:rPr lang="fi-FI" dirty="0" err="1"/>
              <a:t>Loaders</a:t>
            </a:r>
            <a:r>
              <a:rPr lang="fi-FI" dirty="0"/>
              <a:t>: Esimerkiksi vanhempi versio käännetään uudempaan versioon</a:t>
            </a:r>
          </a:p>
          <a:p>
            <a:pPr lvl="1"/>
            <a:r>
              <a:rPr lang="fi-FI" dirty="0" err="1"/>
              <a:t>Plugins</a:t>
            </a:r>
            <a:r>
              <a:rPr lang="fi-FI" dirty="0"/>
              <a:t>: Laajentaa ja muokkaa </a:t>
            </a:r>
            <a:r>
              <a:rPr lang="fi-FI" dirty="0" err="1"/>
              <a:t>webpackin</a:t>
            </a:r>
            <a:r>
              <a:rPr lang="fi-FI" dirty="0"/>
              <a:t> toimintaa </a:t>
            </a:r>
          </a:p>
        </p:txBody>
      </p:sp>
    </p:spTree>
    <p:extLst>
      <p:ext uri="{BB962C8B-B14F-4D97-AF65-F5344CB8AC3E}">
        <p14:creationId xmlns:p14="http://schemas.microsoft.com/office/powerpoint/2010/main" val="10423874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2282E0F2-0BBE-2098-A67D-655184474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Osa 8 – </a:t>
            </a:r>
            <a:r>
              <a:rPr lang="fi-FI" dirty="0" err="1"/>
              <a:t>GraphQL</a:t>
            </a:r>
            <a:r>
              <a:rPr lang="fi-FI" dirty="0"/>
              <a:t> palvelin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CE85AE80-B42E-F569-5E8F-CBD88C8839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r>
              <a:rPr lang="fi-FI" dirty="0"/>
              <a:t>Tarjoaa API-rajapinnan jota käytetään kyselyissä ja muutoksissa. Etuja perinteisen REST arkkitehtuuriin verrattuna:</a:t>
            </a:r>
          </a:p>
          <a:p>
            <a:pPr lvl="1"/>
            <a:r>
              <a:rPr lang="fi-FI" dirty="0"/>
              <a:t>Hyvin tarkat kyselyt, vähentää dataliikennettä</a:t>
            </a:r>
          </a:p>
          <a:p>
            <a:pPr lvl="1"/>
            <a:r>
              <a:rPr lang="fi-FI" dirty="0"/>
              <a:t>Yhden kyselyn periaate, parantaa suorituskykyä ja vähentää viivettä</a:t>
            </a:r>
          </a:p>
          <a:p>
            <a:pPr lvl="1"/>
            <a:r>
              <a:rPr lang="fi-FI" dirty="0"/>
              <a:t>Tarkka datan nouto, vähentää turhan datan hakemista ja toisaalta liian vähäisen datan hakemista</a:t>
            </a:r>
          </a:p>
          <a:p>
            <a:pPr lvl="1"/>
            <a:r>
              <a:rPr lang="fi-FI" dirty="0"/>
              <a:t>Ohjauksen määritys, </a:t>
            </a:r>
            <a:r>
              <a:rPr lang="fi-FI" dirty="0" err="1"/>
              <a:t>GraphQL</a:t>
            </a:r>
            <a:r>
              <a:rPr lang="fi-FI" dirty="0"/>
              <a:t> antaa enemmän valtaa määrittää mitä tietoa käyttäjä haluaa ja missä muodossa, tämä vähentää palvelinpuolen muutoksia  ja mahdollistaa joustavamman kehityksen</a:t>
            </a:r>
          </a:p>
          <a:p>
            <a:pPr lvl="1"/>
            <a:r>
              <a:rPr lang="fi-FI" dirty="0"/>
              <a:t>Automatisoitu dokumentaatio, palvelin tuottaa automaattisesti selkeän ja yksityiskohtaisen dokumentaation, joka kuvaa käytettävissä olevat kyselyt ja mutaatiot</a:t>
            </a:r>
          </a:p>
          <a:p>
            <a:pPr lvl="1"/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19375381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A8B53313-9740-995F-92F9-3DD297872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Osa 8 – </a:t>
            </a:r>
            <a:r>
              <a:rPr lang="fi-FI" dirty="0" err="1"/>
              <a:t>GraphQL:n</a:t>
            </a:r>
            <a:r>
              <a:rPr lang="fi-FI" dirty="0"/>
              <a:t> </a:t>
            </a:r>
            <a:r>
              <a:rPr lang="fi-FI" dirty="0" err="1"/>
              <a:t>resolverit</a:t>
            </a:r>
            <a:r>
              <a:rPr lang="fi-FI" dirty="0"/>
              <a:t> ja mutaatiot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5C74F9AA-136D-CB36-F4F1-161824CC86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i-FI" dirty="0"/>
              <a:t>Kaikki </a:t>
            </a:r>
            <a:r>
              <a:rPr lang="fi-FI" dirty="0" err="1"/>
              <a:t>resolverit</a:t>
            </a:r>
            <a:r>
              <a:rPr lang="fi-FI" dirty="0"/>
              <a:t> saa oletusarvoisesti (</a:t>
            </a:r>
            <a:r>
              <a:rPr lang="fi-FI" dirty="0" err="1"/>
              <a:t>obj</a:t>
            </a:r>
            <a:r>
              <a:rPr lang="fi-FI" dirty="0"/>
              <a:t>, </a:t>
            </a:r>
            <a:r>
              <a:rPr lang="fi-FI" dirty="0" err="1"/>
              <a:t>args</a:t>
            </a:r>
            <a:r>
              <a:rPr lang="fi-FI" dirty="0"/>
              <a:t>, </a:t>
            </a:r>
            <a:r>
              <a:rPr lang="fi-FI" dirty="0" err="1"/>
              <a:t>context</a:t>
            </a:r>
            <a:r>
              <a:rPr lang="fi-FI" dirty="0"/>
              <a:t> ja info) parametrit, mutta niitä voidaan jättää määrittelemättä, jos ei tarvetta. </a:t>
            </a:r>
            <a:r>
              <a:rPr lang="fi-FI" dirty="0" err="1"/>
              <a:t>GraphQL</a:t>
            </a:r>
            <a:r>
              <a:rPr lang="fi-FI" dirty="0"/>
              <a:t> palvelimen tulee kuitenkin määritellä </a:t>
            </a:r>
            <a:r>
              <a:rPr lang="fi-FI" dirty="0" err="1"/>
              <a:t>resolverit</a:t>
            </a:r>
            <a:r>
              <a:rPr lang="fi-FI" dirty="0"/>
              <a:t> kaikille skeemassa määritetyille tyyppikentille. Toimii myös olion sisällä olio tapauksessa</a:t>
            </a:r>
          </a:p>
          <a:p>
            <a:pPr marL="457200" lvl="1" indent="0">
              <a:buNone/>
            </a:pPr>
            <a:r>
              <a:rPr lang="fi-FI" sz="1600" dirty="0"/>
              <a:t>	QUERY </a:t>
            </a:r>
            <a:r>
              <a:rPr lang="fi-FI" sz="1600" dirty="0">
                <a:effectLst/>
              </a:rPr>
              <a:t>{</a:t>
            </a:r>
            <a:r>
              <a:rPr lang="fi-FI" sz="1600" dirty="0"/>
              <a:t> </a:t>
            </a:r>
          </a:p>
          <a:p>
            <a:pPr marL="914400" lvl="2" indent="0">
              <a:buNone/>
            </a:pPr>
            <a:r>
              <a:rPr lang="fi-FI" sz="1600" dirty="0" err="1">
                <a:effectLst/>
              </a:rPr>
              <a:t>findPerson</a:t>
            </a:r>
            <a:r>
              <a:rPr lang="fi-FI" sz="1600" dirty="0">
                <a:effectLst/>
              </a:rPr>
              <a:t>(</a:t>
            </a:r>
            <a:r>
              <a:rPr lang="fi-FI" sz="1600" dirty="0" err="1"/>
              <a:t>name</a:t>
            </a:r>
            <a:r>
              <a:rPr lang="fi-FI" sz="1600" dirty="0">
                <a:solidFill>
                  <a:srgbClr val="F5B83D"/>
                </a:solidFill>
                <a:effectLst/>
              </a:rPr>
              <a:t>:</a:t>
            </a:r>
            <a:r>
              <a:rPr lang="fi-FI" sz="1600" dirty="0"/>
              <a:t> </a:t>
            </a:r>
            <a:r>
              <a:rPr lang="fi-FI" sz="1600" dirty="0">
                <a:solidFill>
                  <a:srgbClr val="BDE052"/>
                </a:solidFill>
                <a:effectLst/>
              </a:rPr>
              <a:t>”</a:t>
            </a:r>
            <a:r>
              <a:rPr lang="fi-FI" sz="1600" dirty="0" err="1">
                <a:solidFill>
                  <a:srgbClr val="BDE052"/>
                </a:solidFill>
                <a:effectLst/>
              </a:rPr>
              <a:t>Your</a:t>
            </a:r>
            <a:r>
              <a:rPr lang="fi-FI" sz="1600" dirty="0">
                <a:solidFill>
                  <a:srgbClr val="BDE052"/>
                </a:solidFill>
                <a:effectLst/>
              </a:rPr>
              <a:t> </a:t>
            </a:r>
            <a:r>
              <a:rPr lang="fi-FI" sz="1600" dirty="0" err="1">
                <a:solidFill>
                  <a:srgbClr val="BDE052"/>
                </a:solidFill>
                <a:effectLst/>
              </a:rPr>
              <a:t>Name</a:t>
            </a:r>
            <a:r>
              <a:rPr lang="fi-FI" sz="1600" dirty="0">
                <a:solidFill>
                  <a:srgbClr val="BDE052"/>
                </a:solidFill>
                <a:effectLst/>
              </a:rPr>
              <a:t>"</a:t>
            </a:r>
            <a:r>
              <a:rPr lang="fi-FI" sz="1600" dirty="0">
                <a:effectLst/>
              </a:rPr>
              <a:t>)</a:t>
            </a:r>
            <a:r>
              <a:rPr lang="fi-FI" sz="1600" dirty="0"/>
              <a:t> </a:t>
            </a:r>
            <a:r>
              <a:rPr lang="fi-FI" sz="1600" dirty="0">
                <a:effectLst/>
              </a:rPr>
              <a:t>{</a:t>
            </a:r>
            <a:r>
              <a:rPr lang="fi-FI" sz="1600" dirty="0"/>
              <a:t> </a:t>
            </a:r>
          </a:p>
          <a:p>
            <a:pPr marL="914400" lvl="2" indent="0">
              <a:buNone/>
            </a:pPr>
            <a:r>
              <a:rPr lang="fi-FI" sz="1600" dirty="0"/>
              <a:t>	</a:t>
            </a:r>
            <a:r>
              <a:rPr lang="fi-FI" sz="1600" dirty="0" err="1"/>
              <a:t>phone</a:t>
            </a:r>
            <a:r>
              <a:rPr lang="fi-FI" sz="1600" dirty="0"/>
              <a:t> </a:t>
            </a:r>
          </a:p>
          <a:p>
            <a:pPr marL="914400" lvl="2" indent="0">
              <a:buNone/>
            </a:pPr>
            <a:r>
              <a:rPr lang="fi-FI" sz="1600" dirty="0"/>
              <a:t>	</a:t>
            </a:r>
            <a:r>
              <a:rPr lang="fi-FI" sz="1600" dirty="0" err="1"/>
              <a:t>address</a:t>
            </a:r>
            <a:r>
              <a:rPr lang="fi-FI" sz="1600" dirty="0"/>
              <a:t>  </a:t>
            </a:r>
            <a:r>
              <a:rPr lang="fi-FI" sz="1600" dirty="0">
                <a:effectLst/>
              </a:rPr>
              <a:t>{</a:t>
            </a:r>
            <a:r>
              <a:rPr lang="fi-FI" sz="1600" dirty="0"/>
              <a:t> city </a:t>
            </a:r>
            <a:r>
              <a:rPr lang="fi-FI" sz="1600" dirty="0" err="1"/>
              <a:t>street</a:t>
            </a:r>
            <a:r>
              <a:rPr lang="fi-FI" sz="1600" dirty="0"/>
              <a:t> </a:t>
            </a:r>
            <a:r>
              <a:rPr lang="fi-FI" sz="1600" dirty="0">
                <a:effectLst/>
              </a:rPr>
              <a:t>}</a:t>
            </a:r>
            <a:r>
              <a:rPr lang="fi-FI" sz="1600" dirty="0"/>
              <a:t> </a:t>
            </a:r>
            <a:r>
              <a:rPr lang="fi-FI" sz="1600" dirty="0">
                <a:effectLst/>
              </a:rPr>
              <a:t>} }</a:t>
            </a:r>
          </a:p>
          <a:p>
            <a:pPr marL="0" indent="0">
              <a:buNone/>
            </a:pPr>
            <a:endParaRPr lang="fi-FI" dirty="0"/>
          </a:p>
          <a:p>
            <a:r>
              <a:rPr lang="fi-FI" dirty="0"/>
              <a:t>Mutaatiot tekevät muutoksia, näiden avulla voidaan lisätä dataa tietokantaan. Mutaatio saa siis parametreinä käyttäjän antamat tiedot, kentät voi olla myös pakollisia tai vapaaehtoisia. Palvelinpuoli hoitaa </a:t>
            </a:r>
            <a:r>
              <a:rPr lang="fi-FI" i="1" dirty="0"/>
              <a:t>id </a:t>
            </a:r>
            <a:r>
              <a:rPr lang="fi-FI" dirty="0"/>
              <a:t>arvot ja onkin yleisesti järkevää jättää se ainoastaan palvelimen hoidettavaksi</a:t>
            </a:r>
          </a:p>
          <a:p>
            <a:pPr marL="914400" lvl="2" indent="0">
              <a:buNone/>
            </a:pPr>
            <a:endParaRPr lang="fi-FI" sz="1600" dirty="0"/>
          </a:p>
          <a:p>
            <a:pPr marL="914400" lvl="2" indent="0">
              <a:buNone/>
            </a:pPr>
            <a:endParaRPr lang="fi-FI" sz="16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4809013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31F69F12-B839-92E8-385D-C4855A274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Osa 8 – Tietokanta, fragmentit ja subskriptiot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AE144BE6-F5EA-2F56-7DD3-D75DBE71B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fi-FI" dirty="0"/>
              <a:t>Tietokantaa varten perustettava skeema sekä validointi on mahdollista. Sisäänkirjautumisessa käytetään </a:t>
            </a:r>
            <a:r>
              <a:rPr lang="fi-FI" dirty="0" err="1"/>
              <a:t>Token</a:t>
            </a:r>
            <a:r>
              <a:rPr lang="fi-FI" dirty="0"/>
              <a:t> pohjaista kirjautumista, arvot ja yhteydet määritellään samaan tapaan .</a:t>
            </a:r>
            <a:r>
              <a:rPr lang="fi-FI" dirty="0" err="1"/>
              <a:t>env</a:t>
            </a:r>
            <a:r>
              <a:rPr lang="fi-FI" dirty="0"/>
              <a:t> tiedostoon kuten aiemmin</a:t>
            </a:r>
          </a:p>
          <a:p>
            <a:r>
              <a:rPr lang="fi-FI" dirty="0"/>
              <a:t>Fragmenttien avulla voidaan kyselyitä yksinkertaistaa, määritellään ensin kaikki kentät ja kysely voidaan tehdä jatkossa kompaktimmassa muodossa. Fragmentteja ei määritellä </a:t>
            </a:r>
            <a:r>
              <a:rPr lang="fi-FI" dirty="0" err="1"/>
              <a:t>GraphQL</a:t>
            </a:r>
            <a:r>
              <a:rPr lang="fi-FI" dirty="0"/>
              <a:t> skeemassa vaan </a:t>
            </a:r>
            <a:r>
              <a:rPr lang="fi-FI" dirty="0" err="1"/>
              <a:t>client</a:t>
            </a:r>
            <a:r>
              <a:rPr lang="fi-FI" dirty="0"/>
              <a:t> päässä</a:t>
            </a:r>
          </a:p>
          <a:p>
            <a:r>
              <a:rPr lang="fi-FI" dirty="0"/>
              <a:t>Subscriptionien avulla käyttäjä voi ”tilata” palvelimelta tiedotuksia palvelimella tapahtuneista muutoksista. </a:t>
            </a:r>
            <a:r>
              <a:rPr lang="fi-FI" b="0" i="0" dirty="0">
                <a:solidFill>
                  <a:srgbClr val="33332D"/>
                </a:solidFill>
                <a:effectLst/>
                <a:highlight>
                  <a:srgbClr val="FFFFFF"/>
                </a:highlight>
              </a:rPr>
              <a:t>Sen jälkeen kun selaimessa oleva sovellus on tehnyt tilauksen muutostiedoista, alkaa selain kuunnella palvelinta.</a:t>
            </a:r>
            <a:endParaRPr lang="fi-FI" dirty="0"/>
          </a:p>
          <a:p>
            <a:endParaRPr lang="fi-FI" dirty="0"/>
          </a:p>
          <a:p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15892935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47C8EA38-F86F-70A9-BADE-43D5880F4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Osa 9 - </a:t>
            </a:r>
            <a:r>
              <a:rPr lang="fi-FI" dirty="0" err="1"/>
              <a:t>TypeScript</a:t>
            </a:r>
            <a:endParaRPr lang="fi-FI" dirty="0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9A446157-A6AB-00AD-46F7-AE47FE0FE4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i-FI" dirty="0"/>
              <a:t>JavaScriptin kanssa samanlainen syntakseilta ja rakenteelta, mutta tarjoaa staattisen tyypityksen, joka mahdollistaa muuttujien, funktioiden ja objektien tyyppien määritykset koodissa = vähentää virheitä</a:t>
            </a:r>
          </a:p>
          <a:p>
            <a:r>
              <a:rPr lang="fi-FI" dirty="0"/>
              <a:t>Tyypitettyä koodia on helppo ymmärtää ja muokata</a:t>
            </a:r>
          </a:p>
          <a:p>
            <a:r>
              <a:rPr lang="fi-FI" dirty="0"/>
              <a:t>Yhteensopivuus JavaScriptin kanssa eli TS voidaan muuntaa </a:t>
            </a:r>
            <a:r>
              <a:rPr lang="fi-FI" dirty="0" err="1"/>
              <a:t>JS:ään</a:t>
            </a:r>
            <a:r>
              <a:rPr lang="fi-FI" dirty="0"/>
              <a:t>. Tämä tarkoittaa sitä että </a:t>
            </a:r>
            <a:r>
              <a:rPr lang="fi-FI" dirty="0" err="1"/>
              <a:t>TS:ää</a:t>
            </a:r>
            <a:r>
              <a:rPr lang="fi-FI" dirty="0"/>
              <a:t> voidaan käyttää osana JS projekteja tai kirjoittaa kokonaan uusia sovelluksia </a:t>
            </a:r>
            <a:r>
              <a:rPr lang="fi-FI" dirty="0" err="1"/>
              <a:t>TS:llä</a:t>
            </a:r>
            <a:r>
              <a:rPr lang="fi-FI" dirty="0"/>
              <a:t>.</a:t>
            </a:r>
          </a:p>
          <a:p>
            <a:r>
              <a:rPr lang="fi-FI" dirty="0"/>
              <a:t>Suurissa ja monimutkaisissa projekteissa koodin ylläpidettävyys, turvallisuus ja tehokkuus puoltavat </a:t>
            </a:r>
            <a:r>
              <a:rPr lang="fi-FI" dirty="0" err="1"/>
              <a:t>TypeScriptiä</a:t>
            </a:r>
            <a:r>
              <a:rPr lang="fi-FI" dirty="0"/>
              <a:t> verrattuna JavaScriptiin</a:t>
            </a:r>
          </a:p>
        </p:txBody>
      </p:sp>
    </p:spTree>
    <p:extLst>
      <p:ext uri="{BB962C8B-B14F-4D97-AF65-F5344CB8AC3E}">
        <p14:creationId xmlns:p14="http://schemas.microsoft.com/office/powerpoint/2010/main" val="36646872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9E8E8456-C607-4130-21BE-CDC644FD8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Osa 10 – </a:t>
            </a:r>
            <a:r>
              <a:rPr lang="fi-FI" dirty="0" err="1"/>
              <a:t>React</a:t>
            </a:r>
            <a:r>
              <a:rPr lang="fi-FI" dirty="0"/>
              <a:t> </a:t>
            </a:r>
            <a:r>
              <a:rPr lang="fi-FI" dirty="0" err="1"/>
              <a:t>Native</a:t>
            </a:r>
            <a:endParaRPr lang="fi-FI" dirty="0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EC5A933E-C874-590A-3FF6-26A9FA0882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/>
              <a:t>Perustuu </a:t>
            </a:r>
            <a:r>
              <a:rPr lang="fi-FI" dirty="0" err="1"/>
              <a:t>React</a:t>
            </a:r>
            <a:r>
              <a:rPr lang="fi-FI" dirty="0"/>
              <a:t> –kirjastoon, joka tarjoaa mahdollisuuden kehittää alustariippumattomia mobiilisovelluksia yhdellä koodipohjalla. Sen avulla voi kirjoittaa JavaScript sovelluslogiikan ja jakaa sen useille eri alustoille esim. iOS ja Android</a:t>
            </a:r>
          </a:p>
          <a:p>
            <a:pPr lvl="1"/>
            <a:r>
              <a:rPr lang="fi-FI" dirty="0"/>
              <a:t>Komponenttipohjainen, samat komponentit ja rakenteet kuin </a:t>
            </a:r>
            <a:r>
              <a:rPr lang="fi-FI" dirty="0" err="1"/>
              <a:t>Reactissa</a:t>
            </a:r>
            <a:endParaRPr lang="fi-FI" dirty="0"/>
          </a:p>
          <a:p>
            <a:pPr lvl="1"/>
            <a:r>
              <a:rPr lang="fi-FI" dirty="0"/>
              <a:t>Hot </a:t>
            </a:r>
            <a:r>
              <a:rPr lang="fi-FI" dirty="0" err="1"/>
              <a:t>reload</a:t>
            </a:r>
            <a:r>
              <a:rPr lang="fi-FI" dirty="0"/>
              <a:t>, nopeuttaa sovelluksen kehitystä, koska näkymä muuttuu reaaliajassa sovelluksen esikatselussa</a:t>
            </a:r>
          </a:p>
          <a:p>
            <a:pPr lvl="1"/>
            <a:r>
              <a:rPr lang="fi-FI" dirty="0"/>
              <a:t>Laaja kolmannen osapuolen kirjastovalikoima ja komponentteja</a:t>
            </a:r>
          </a:p>
          <a:p>
            <a:pPr lvl="1"/>
            <a:r>
              <a:rPr lang="fi-FI" dirty="0"/>
              <a:t>Suorituskyky, </a:t>
            </a:r>
            <a:r>
              <a:rPr lang="fi-FI" dirty="0" err="1"/>
              <a:t>React</a:t>
            </a:r>
            <a:r>
              <a:rPr lang="fi-FI" dirty="0"/>
              <a:t> </a:t>
            </a:r>
            <a:r>
              <a:rPr lang="fi-FI" dirty="0" err="1"/>
              <a:t>Native</a:t>
            </a:r>
            <a:r>
              <a:rPr lang="fi-FI" dirty="0"/>
              <a:t> käyttää alustan omia komponentteja ja UI-komponenttien piirto-ominaisuuksia, joka parantaa suorituskykyä ja </a:t>
            </a:r>
            <a:r>
              <a:rPr lang="fi-FI" dirty="0" err="1"/>
              <a:t>responsiivisyyttä</a:t>
            </a:r>
            <a:endParaRPr lang="fi-FI" dirty="0"/>
          </a:p>
          <a:p>
            <a:pPr lvl="1"/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32205969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DD53D079-2BA3-BD7F-464F-7498AC463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Osa 10 – </a:t>
            </a:r>
            <a:r>
              <a:rPr lang="fi-FI" dirty="0" err="1"/>
              <a:t>GraphQL</a:t>
            </a:r>
            <a:r>
              <a:rPr lang="fi-FI" dirty="0"/>
              <a:t> ja </a:t>
            </a:r>
            <a:r>
              <a:rPr lang="fi-FI" dirty="0" err="1"/>
              <a:t>React</a:t>
            </a:r>
            <a:r>
              <a:rPr lang="fi-FI" dirty="0"/>
              <a:t> </a:t>
            </a:r>
            <a:r>
              <a:rPr lang="fi-FI" dirty="0" err="1"/>
              <a:t>Native</a:t>
            </a:r>
            <a:endParaRPr lang="fi-FI" dirty="0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854BC1F5-23B7-67BD-7897-F561E056EC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b="0" i="0" dirty="0">
                <a:effectLst/>
                <a:latin typeface="Söhne"/>
              </a:rPr>
              <a:t>Yhdistämällä </a:t>
            </a:r>
            <a:r>
              <a:rPr lang="fi-FI" b="0" i="0" dirty="0" err="1">
                <a:effectLst/>
                <a:latin typeface="Söhne"/>
              </a:rPr>
              <a:t>React</a:t>
            </a:r>
            <a:r>
              <a:rPr lang="fi-FI" b="0" i="0" dirty="0">
                <a:effectLst/>
                <a:latin typeface="Söhne"/>
              </a:rPr>
              <a:t> </a:t>
            </a:r>
            <a:r>
              <a:rPr lang="fi-FI" b="0" i="0" dirty="0" err="1">
                <a:effectLst/>
                <a:latin typeface="Söhne"/>
              </a:rPr>
              <a:t>Nativen</a:t>
            </a:r>
            <a:r>
              <a:rPr lang="fi-FI" b="0" i="0" dirty="0">
                <a:effectLst/>
                <a:latin typeface="Söhne"/>
              </a:rPr>
              <a:t> ja </a:t>
            </a:r>
            <a:r>
              <a:rPr lang="fi-FI" b="0" i="0" dirty="0" err="1">
                <a:effectLst/>
                <a:latin typeface="Söhne"/>
              </a:rPr>
              <a:t>GraphQL:n</a:t>
            </a:r>
            <a:r>
              <a:rPr lang="fi-FI" b="0" i="0" dirty="0">
                <a:effectLst/>
                <a:latin typeface="Söhne"/>
              </a:rPr>
              <a:t> avulla voidaan rakentaa tehokkaita ja </a:t>
            </a:r>
            <a:r>
              <a:rPr lang="fi-FI" b="0" i="0" dirty="0" err="1">
                <a:effectLst/>
                <a:latin typeface="Söhne"/>
              </a:rPr>
              <a:t>responsiivisia</a:t>
            </a:r>
            <a:r>
              <a:rPr lang="fi-FI" b="0" i="0" dirty="0">
                <a:effectLst/>
                <a:latin typeface="Söhne"/>
              </a:rPr>
              <a:t> mobiilisovelluksia, jotka hyödyntävät modernia tietojenhakua ja hallintaa. </a:t>
            </a:r>
            <a:r>
              <a:rPr lang="fi-FI" b="0" i="0" dirty="0" err="1">
                <a:effectLst/>
                <a:latin typeface="Söhne"/>
              </a:rPr>
              <a:t>GraphQL</a:t>
            </a:r>
            <a:r>
              <a:rPr lang="fi-FI" b="0" i="0" dirty="0">
                <a:effectLst/>
                <a:latin typeface="Söhne"/>
              </a:rPr>
              <a:t> tarjoaa joustavan tavan hakea ja päivittää tietoja palvelimelta, kun taas </a:t>
            </a:r>
            <a:r>
              <a:rPr lang="fi-FI" b="0" i="0" dirty="0" err="1">
                <a:effectLst/>
                <a:latin typeface="Söhne"/>
              </a:rPr>
              <a:t>React</a:t>
            </a:r>
            <a:r>
              <a:rPr lang="fi-FI" b="0" i="0" dirty="0">
                <a:effectLst/>
                <a:latin typeface="Söhne"/>
              </a:rPr>
              <a:t> </a:t>
            </a:r>
            <a:r>
              <a:rPr lang="fi-FI" b="0" i="0" dirty="0" err="1">
                <a:effectLst/>
                <a:latin typeface="Söhne"/>
              </a:rPr>
              <a:t>Native</a:t>
            </a:r>
            <a:r>
              <a:rPr lang="fi-FI" b="0" i="0" dirty="0">
                <a:effectLst/>
                <a:latin typeface="Söhne"/>
              </a:rPr>
              <a:t> mahdollistaa käyttöliittymän rakentamisen ja suorituskyvyn optimoinnin mobiililaitteille. </a:t>
            </a:r>
          </a:p>
          <a:p>
            <a:pPr lvl="1"/>
            <a:r>
              <a:rPr lang="fi-FI" dirty="0" err="1">
                <a:latin typeface="Söhne"/>
              </a:rPr>
              <a:t>GraphQL</a:t>
            </a:r>
            <a:r>
              <a:rPr lang="fi-FI" dirty="0">
                <a:latin typeface="Söhne"/>
              </a:rPr>
              <a:t> integroituna komponentteihin, kyselyt voidaan tehdään suoraan komponentista ja päivittää tilan automaattisesti, kun tietoja haetaan tai muutetaan palvelimella</a:t>
            </a:r>
          </a:p>
          <a:p>
            <a:pPr lvl="1"/>
            <a:r>
              <a:rPr lang="fi-FI" dirty="0">
                <a:latin typeface="Söhne"/>
              </a:rPr>
              <a:t>Optimoidut kyselyt palvelimelle, vähentää tietoliikenteen määrää, joka parantaa käyttäjäkokemusta ja parantaa suorituskykyä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29502779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59A0522F-E859-9782-1B78-49F8DA385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Osa 11 – CI/CD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C091AC1E-D150-48DE-4C1F-12116D448F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i-FI" b="0" i="0" dirty="0">
                <a:effectLst/>
                <a:latin typeface="Söhne"/>
              </a:rPr>
              <a:t>CI (</a:t>
            </a:r>
            <a:r>
              <a:rPr lang="fi-FI" b="0" i="0" dirty="0" err="1">
                <a:effectLst/>
                <a:latin typeface="Söhne"/>
              </a:rPr>
              <a:t>Continuous</a:t>
            </a:r>
            <a:r>
              <a:rPr lang="fi-FI" b="0" i="0" dirty="0">
                <a:effectLst/>
                <a:latin typeface="Söhne"/>
              </a:rPr>
              <a:t> </a:t>
            </a:r>
            <a:r>
              <a:rPr lang="fi-FI" b="0" i="0" dirty="0" err="1">
                <a:effectLst/>
                <a:latin typeface="Söhne"/>
              </a:rPr>
              <a:t>Integration</a:t>
            </a:r>
            <a:r>
              <a:rPr lang="fi-FI" b="0" i="0" dirty="0">
                <a:effectLst/>
                <a:latin typeface="Söhne"/>
              </a:rPr>
              <a:t>) on kehityskäytäntö, jossa tiimi integroi ja testaa koodimuutoksia jatkuvasti versionhallintajärjestelmässä. CI-järjestelmä automatisoi monia kehitysvaiheita, mukaan lukien lähdekoodin tarkastelu, kääntäminen, testaus ja pakkaaminen. Tämän avulla kehittäjät voivat havaita ja korjata virheitä nopeasti ja varmistaa, että sovellus pysyy toimivana ja laadukkaana.</a:t>
            </a:r>
          </a:p>
          <a:p>
            <a:pPr lvl="1"/>
            <a:r>
              <a:rPr lang="fi-FI" dirty="0" err="1">
                <a:latin typeface="Söhne"/>
              </a:rPr>
              <a:t>Build</a:t>
            </a:r>
            <a:r>
              <a:rPr lang="fi-FI" dirty="0">
                <a:latin typeface="Söhne"/>
              </a:rPr>
              <a:t> -&gt; koodin kokoaminen yhdeksi paketiksi</a:t>
            </a:r>
          </a:p>
          <a:p>
            <a:pPr lvl="1"/>
            <a:r>
              <a:rPr lang="fi-FI" dirty="0" err="1">
                <a:latin typeface="Söhne"/>
              </a:rPr>
              <a:t>Test</a:t>
            </a:r>
            <a:r>
              <a:rPr lang="fi-FI" dirty="0">
                <a:latin typeface="Söhne"/>
              </a:rPr>
              <a:t> -&gt; määritellään testejä varmistaen että ohjelmisto toimii halutulla tavalla</a:t>
            </a:r>
          </a:p>
          <a:p>
            <a:pPr lvl="1"/>
            <a:r>
              <a:rPr lang="fi-FI" dirty="0" err="1">
                <a:latin typeface="Söhne"/>
              </a:rPr>
              <a:t>Package</a:t>
            </a:r>
            <a:r>
              <a:rPr lang="fi-FI" dirty="0">
                <a:latin typeface="Söhne"/>
              </a:rPr>
              <a:t> -&gt; paketoidaan komponentit ja riippuvuudet yhdeksi kokonaisuudeksi</a:t>
            </a:r>
          </a:p>
          <a:p>
            <a:pPr lvl="1"/>
            <a:r>
              <a:rPr lang="fi-FI" dirty="0" err="1">
                <a:latin typeface="Söhne"/>
              </a:rPr>
              <a:t>Deploy</a:t>
            </a:r>
            <a:r>
              <a:rPr lang="fi-FI" dirty="0">
                <a:latin typeface="Söhne"/>
              </a:rPr>
              <a:t> -&gt; julkaisu testiympäristöön tai suoraan tuotantoon</a:t>
            </a:r>
          </a:p>
          <a:p>
            <a:pPr marL="457200" lvl="1" indent="0">
              <a:buNone/>
            </a:pPr>
            <a:endParaRPr lang="fi-FI" dirty="0">
              <a:latin typeface="Söhne"/>
            </a:endParaRPr>
          </a:p>
          <a:p>
            <a:pPr marL="457200" lvl="1" indent="0">
              <a:buNone/>
            </a:pPr>
            <a:r>
              <a:rPr lang="fi-FI" b="0" i="0" dirty="0">
                <a:effectLst/>
                <a:latin typeface="Söhne"/>
              </a:rPr>
              <a:t>CI-järjestelmä automatisoi nämä vaiheet ja ajaa ne joka kerta kun ohjelmistoon tehdään muutoksia!</a:t>
            </a:r>
          </a:p>
          <a:p>
            <a:pPr marL="457200" lvl="1" indent="0">
              <a:buNone/>
            </a:pPr>
            <a:endParaRPr lang="fi-FI" dirty="0"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40211121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586914DF-249B-5B77-F43A-7DD70F5C4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Osa 11 – CI/CD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E31FF310-0EBF-F087-B981-4AD2565261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i-FI" dirty="0"/>
              <a:t>CD (</a:t>
            </a:r>
            <a:r>
              <a:rPr lang="fi-FI" b="0" i="0" dirty="0" err="1">
                <a:effectLst/>
                <a:latin typeface="Söhne"/>
              </a:rPr>
              <a:t>Continuous</a:t>
            </a:r>
            <a:r>
              <a:rPr lang="fi-FI" b="0" i="0" dirty="0">
                <a:effectLst/>
                <a:latin typeface="Söhne"/>
              </a:rPr>
              <a:t> Deployment) on automatisoitu jatkuvan kehityksen toimintaympäristö, pidemmälle viety kokonaisuus kuin mitä CI sisältää. Prosessin tavoitteena on tuottaa ja toimittamalla julkaisu suoraan tuotantoympäristöön.</a:t>
            </a:r>
          </a:p>
          <a:p>
            <a:pPr lvl="1"/>
            <a:r>
              <a:rPr lang="fi-FI" dirty="0">
                <a:latin typeface="Söhne"/>
              </a:rPr>
              <a:t>Automaattinen toimitus, ohjelmisto tuotetaan suoraan tuotantoon ilman manuaalisia toimintoja</a:t>
            </a:r>
          </a:p>
          <a:p>
            <a:pPr lvl="1"/>
            <a:r>
              <a:rPr lang="fi-FI" dirty="0">
                <a:latin typeface="Söhne"/>
              </a:rPr>
              <a:t>Automaattiset testit</a:t>
            </a:r>
          </a:p>
          <a:p>
            <a:pPr lvl="1"/>
            <a:r>
              <a:rPr lang="fi-FI" dirty="0">
                <a:latin typeface="Söhne"/>
              </a:rPr>
              <a:t>CD rakentuu CI:n päälle</a:t>
            </a:r>
          </a:p>
          <a:p>
            <a:pPr lvl="1"/>
            <a:r>
              <a:rPr lang="fi-FI" dirty="0">
                <a:latin typeface="Söhne"/>
              </a:rPr>
              <a:t>Hyväksymiskokeet, voidaan määritellä että ohjelmiston uudet toiminnot vastaavat vaatimuksia ja käyttäjän odotuksia</a:t>
            </a:r>
          </a:p>
          <a:p>
            <a:pPr marL="457200" lvl="1" indent="0">
              <a:buNone/>
            </a:pPr>
            <a:endParaRPr lang="fi-FI" dirty="0">
              <a:latin typeface="Söhne"/>
            </a:endParaRPr>
          </a:p>
          <a:p>
            <a:pPr marL="457200" lvl="1" indent="0">
              <a:buNone/>
            </a:pPr>
            <a:r>
              <a:rPr lang="fi-FI" b="0" i="0" dirty="0">
                <a:effectLst/>
                <a:latin typeface="Söhne"/>
              </a:rPr>
              <a:t>Yhteenvetona CD auttaa organisaatioita toimittamaan laadukasta ohjelmistoa nopeasti ja luotettavasti tuotantoon.</a:t>
            </a:r>
            <a:endParaRPr lang="fi-FI" dirty="0"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15956488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B0F763F3-E39A-7727-8B84-F4060FC4D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Osa 11 – </a:t>
            </a:r>
            <a:r>
              <a:rPr lang="fi-FI" dirty="0" err="1"/>
              <a:t>Yml</a:t>
            </a:r>
            <a:r>
              <a:rPr lang="fi-FI" dirty="0"/>
              <a:t> –tiedosto pääpiirteet </a:t>
            </a:r>
            <a:r>
              <a:rPr lang="fi-FI" dirty="0" err="1"/>
              <a:t>Azure</a:t>
            </a:r>
            <a:endParaRPr lang="fi-FI" dirty="0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97C2B938-DD05-DFF1-7BC2-0B1CF4A98E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i-FI" b="1" i="0" dirty="0" err="1">
                <a:effectLst/>
                <a:latin typeface="Söhne"/>
              </a:rPr>
              <a:t>trigger</a:t>
            </a:r>
            <a:r>
              <a:rPr lang="fi-FI" b="0" i="0" dirty="0">
                <a:effectLst/>
                <a:latin typeface="Söhne"/>
              </a:rPr>
              <a:t>: Määrittelee, mitä tilanteita käynnistää tämän </a:t>
            </a:r>
            <a:r>
              <a:rPr lang="fi-FI" b="0" i="0" dirty="0" err="1">
                <a:effectLst/>
                <a:latin typeface="Söhne"/>
              </a:rPr>
              <a:t>pipelinen</a:t>
            </a:r>
            <a:r>
              <a:rPr lang="fi-FI" b="0" i="0" dirty="0">
                <a:effectLst/>
                <a:latin typeface="Söhne"/>
              </a:rPr>
              <a:t>. Tässä tapauksessa käynnistys, kun kehityshaaraan ('</a:t>
            </a:r>
            <a:r>
              <a:rPr lang="fi-FI" b="0" i="0" dirty="0" err="1">
                <a:effectLst/>
                <a:latin typeface="Söhne"/>
              </a:rPr>
              <a:t>develop</a:t>
            </a:r>
            <a:r>
              <a:rPr lang="fi-FI" b="0" i="0" dirty="0">
                <a:effectLst/>
                <a:latin typeface="Söhne"/>
              </a:rPr>
              <a:t>') tehdään muutoksia.</a:t>
            </a:r>
          </a:p>
          <a:p>
            <a:r>
              <a:rPr lang="fi-FI" b="1" i="0" dirty="0" err="1">
                <a:effectLst/>
                <a:latin typeface="Söhne"/>
              </a:rPr>
              <a:t>pool</a:t>
            </a:r>
            <a:r>
              <a:rPr lang="fi-FI" b="0" i="0" dirty="0">
                <a:effectLst/>
                <a:latin typeface="Söhne"/>
              </a:rPr>
              <a:t>: Määrittelee virtuaalikoneen imagen, jota käytetään CI/CD-prosessissa. Tässä tapauksessa käytetään '</a:t>
            </a:r>
            <a:r>
              <a:rPr lang="fi-FI" b="0" i="0" dirty="0" err="1">
                <a:effectLst/>
                <a:latin typeface="Söhne"/>
              </a:rPr>
              <a:t>windows-latest</a:t>
            </a:r>
            <a:r>
              <a:rPr lang="fi-FI" b="0" i="0" dirty="0">
                <a:effectLst/>
                <a:latin typeface="Söhne"/>
              </a:rPr>
              <a:t>’ -imagea.</a:t>
            </a:r>
          </a:p>
          <a:p>
            <a:r>
              <a:rPr lang="fi-FI" b="1" i="0" dirty="0" err="1">
                <a:effectLst/>
                <a:latin typeface="Söhne"/>
              </a:rPr>
              <a:t>variables</a:t>
            </a:r>
            <a:r>
              <a:rPr lang="fi-FI" b="0" i="0" dirty="0">
                <a:effectLst/>
                <a:latin typeface="Söhne"/>
              </a:rPr>
              <a:t>: Määrittelee muuttujia, kuten ratkaisun, </a:t>
            </a:r>
            <a:r>
              <a:rPr lang="fi-FI" b="0" i="0" dirty="0" err="1">
                <a:effectLst/>
                <a:latin typeface="Söhne"/>
              </a:rPr>
              <a:t>buildialustan</a:t>
            </a:r>
            <a:r>
              <a:rPr lang="fi-FI" b="0" i="0" dirty="0">
                <a:effectLst/>
                <a:latin typeface="Söhne"/>
              </a:rPr>
              <a:t> ja </a:t>
            </a:r>
            <a:r>
              <a:rPr lang="fi-FI" b="0" i="0" dirty="0" err="1">
                <a:effectLst/>
                <a:latin typeface="Söhne"/>
              </a:rPr>
              <a:t>buildikonfiguraation</a:t>
            </a:r>
            <a:r>
              <a:rPr lang="fi-FI" b="0" i="0" dirty="0">
                <a:effectLst/>
                <a:latin typeface="Söhne"/>
              </a:rPr>
              <a:t>.</a:t>
            </a:r>
          </a:p>
          <a:p>
            <a:r>
              <a:rPr lang="fi-FI" b="1" i="0" dirty="0" err="1">
                <a:effectLst/>
                <a:latin typeface="Söhne"/>
              </a:rPr>
              <a:t>steps</a:t>
            </a:r>
            <a:r>
              <a:rPr lang="fi-FI" b="0" i="0" dirty="0">
                <a:effectLst/>
                <a:latin typeface="Söhne"/>
              </a:rPr>
              <a:t>: Luettelee vaiheet, joita </a:t>
            </a:r>
            <a:r>
              <a:rPr lang="fi-FI" b="0" i="0" dirty="0" err="1">
                <a:effectLst/>
                <a:latin typeface="Söhne"/>
              </a:rPr>
              <a:t>pipeline</a:t>
            </a:r>
            <a:r>
              <a:rPr lang="fi-FI" b="0" i="0" dirty="0">
                <a:effectLst/>
                <a:latin typeface="Söhne"/>
              </a:rPr>
              <a:t> suorittaa. Näihin vaiheisiin kuuluvat:</a:t>
            </a:r>
          </a:p>
          <a:p>
            <a:pPr lvl="1"/>
            <a:r>
              <a:rPr lang="fi-FI" b="1" i="0" dirty="0" err="1">
                <a:effectLst/>
                <a:latin typeface="Söhne"/>
              </a:rPr>
              <a:t>NuGetToolInstaller</a:t>
            </a:r>
            <a:r>
              <a:rPr lang="fi-FI" b="0" i="0" dirty="0">
                <a:effectLst/>
                <a:latin typeface="Söhne"/>
              </a:rPr>
              <a:t>: Asentaa </a:t>
            </a:r>
            <a:r>
              <a:rPr lang="fi-FI" b="0" i="0" dirty="0" err="1">
                <a:effectLst/>
                <a:latin typeface="Söhne"/>
              </a:rPr>
              <a:t>NuGet</a:t>
            </a:r>
            <a:r>
              <a:rPr lang="fi-FI" b="0" i="0" dirty="0">
                <a:effectLst/>
                <a:latin typeface="Söhne"/>
              </a:rPr>
              <a:t>-työkalun, jota käytetään </a:t>
            </a:r>
            <a:r>
              <a:rPr lang="fi-FI" b="0" i="0" dirty="0" err="1">
                <a:effectLst/>
                <a:latin typeface="Söhne"/>
              </a:rPr>
              <a:t>NuGet</a:t>
            </a:r>
            <a:r>
              <a:rPr lang="fi-FI" b="0" i="0" dirty="0">
                <a:effectLst/>
                <a:latin typeface="Söhne"/>
              </a:rPr>
              <a:t>-pakettien hallintaan.</a:t>
            </a:r>
          </a:p>
          <a:p>
            <a:pPr lvl="1"/>
            <a:r>
              <a:rPr lang="fi-FI" b="1" i="0" dirty="0" err="1">
                <a:effectLst/>
                <a:latin typeface="Söhne"/>
              </a:rPr>
              <a:t>NuGetCommand</a:t>
            </a:r>
            <a:r>
              <a:rPr lang="fi-FI" b="0" i="0" dirty="0">
                <a:effectLst/>
                <a:latin typeface="Söhne"/>
              </a:rPr>
              <a:t>: Palauttaa kaikki tarvittavat </a:t>
            </a:r>
            <a:r>
              <a:rPr lang="fi-FI" b="0" i="0" dirty="0" err="1">
                <a:effectLst/>
                <a:latin typeface="Söhne"/>
              </a:rPr>
              <a:t>NuGet</a:t>
            </a:r>
            <a:r>
              <a:rPr lang="fi-FI" b="0" i="0" dirty="0">
                <a:effectLst/>
                <a:latin typeface="Söhne"/>
              </a:rPr>
              <a:t>-paketit projektin ratkaisuun.</a:t>
            </a:r>
          </a:p>
          <a:p>
            <a:pPr lvl="1"/>
            <a:r>
              <a:rPr lang="fi-FI" b="1" i="0" dirty="0" err="1">
                <a:effectLst/>
                <a:latin typeface="Söhne"/>
              </a:rPr>
              <a:t>VSBuild</a:t>
            </a:r>
            <a:r>
              <a:rPr lang="fi-FI" b="0" i="0" dirty="0">
                <a:effectLst/>
                <a:latin typeface="Söhne"/>
              </a:rPr>
              <a:t>: </a:t>
            </a:r>
            <a:r>
              <a:rPr lang="fi-FI" b="0" i="0" dirty="0" err="1">
                <a:effectLst/>
                <a:latin typeface="Söhne"/>
              </a:rPr>
              <a:t>Build</a:t>
            </a:r>
            <a:r>
              <a:rPr lang="fi-FI" b="0" i="0" dirty="0">
                <a:effectLst/>
                <a:latin typeface="Söhne"/>
              </a:rPr>
              <a:t> ASP.NET-projektin Visual Studio -</a:t>
            </a:r>
            <a:r>
              <a:rPr lang="fi-FI" dirty="0" err="1">
                <a:latin typeface="Söhne"/>
              </a:rPr>
              <a:t>buildi</a:t>
            </a:r>
            <a:r>
              <a:rPr lang="fi-FI" b="0" i="0" dirty="0" err="1">
                <a:effectLst/>
                <a:latin typeface="Söhne"/>
              </a:rPr>
              <a:t>työkalulla</a:t>
            </a:r>
            <a:r>
              <a:rPr lang="fi-FI" b="0" i="0" dirty="0">
                <a:effectLst/>
                <a:latin typeface="Söhne"/>
              </a:rPr>
              <a:t>. Tässä vaiheessa määritellään myös joitakin </a:t>
            </a:r>
            <a:r>
              <a:rPr lang="fi-FI" b="0" i="0" dirty="0" err="1">
                <a:effectLst/>
                <a:latin typeface="Söhne"/>
              </a:rPr>
              <a:t>msbuild</a:t>
            </a:r>
            <a:r>
              <a:rPr lang="fi-FI" b="0" i="0" dirty="0">
                <a:effectLst/>
                <a:latin typeface="Söhne"/>
              </a:rPr>
              <a:t>-argumentteja, jotka liittyvät julkaisuun ja paketointiin.</a:t>
            </a:r>
          </a:p>
          <a:p>
            <a:pPr lvl="1"/>
            <a:r>
              <a:rPr lang="fi-FI" b="1" i="0" dirty="0" err="1">
                <a:effectLst/>
                <a:latin typeface="Söhne"/>
              </a:rPr>
              <a:t>VSTest</a:t>
            </a:r>
            <a:r>
              <a:rPr lang="fi-FI" b="0" i="0" dirty="0">
                <a:effectLst/>
                <a:latin typeface="Söhne"/>
              </a:rPr>
              <a:t>: Suorittaa yksikkötestit projektissa.</a:t>
            </a:r>
          </a:p>
          <a:p>
            <a:pPr lvl="1"/>
            <a:r>
              <a:rPr lang="fi-FI" b="1" i="0" dirty="0" err="1">
                <a:effectLst/>
                <a:latin typeface="Söhne"/>
              </a:rPr>
              <a:t>PublishBuildArtifacts</a:t>
            </a:r>
            <a:r>
              <a:rPr lang="fi-FI" b="0" i="0" dirty="0">
                <a:effectLst/>
                <a:latin typeface="Söhne"/>
              </a:rPr>
              <a:t>: Tallentaa rakennettujen artefaktien tiedostot </a:t>
            </a:r>
            <a:r>
              <a:rPr lang="fi-FI" b="0" i="0" dirty="0" err="1">
                <a:effectLst/>
                <a:latin typeface="Söhne"/>
              </a:rPr>
              <a:t>Azure</a:t>
            </a:r>
            <a:r>
              <a:rPr lang="fi-FI" b="0" i="0" dirty="0">
                <a:effectLst/>
                <a:latin typeface="Söhne"/>
              </a:rPr>
              <a:t> </a:t>
            </a:r>
            <a:r>
              <a:rPr lang="fi-FI" b="0" i="0" dirty="0" err="1">
                <a:effectLst/>
                <a:latin typeface="Söhne"/>
              </a:rPr>
              <a:t>DevOpsin</a:t>
            </a:r>
            <a:r>
              <a:rPr lang="fi-FI" b="0" i="0" dirty="0">
                <a:effectLst/>
                <a:latin typeface="Söhne"/>
              </a:rPr>
              <a:t> järjestelmään. Nämä artefaktit ovat saatavilla myöhempää käyttöä varten, esimerkiksi julkaisuvaihetta varten.</a:t>
            </a:r>
          </a:p>
        </p:txBody>
      </p:sp>
    </p:spTree>
    <p:extLst>
      <p:ext uri="{BB962C8B-B14F-4D97-AF65-F5344CB8AC3E}">
        <p14:creationId xmlns:p14="http://schemas.microsoft.com/office/powerpoint/2010/main" val="9265385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33140E81-6C2E-048E-6F92-0138DA2DE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Osa 12 - </a:t>
            </a:r>
            <a:r>
              <a:rPr lang="fi-FI" dirty="0" err="1"/>
              <a:t>Docker</a:t>
            </a:r>
            <a:endParaRPr lang="fi-FI" dirty="0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DC3CAAD4-6678-0B73-A2A0-E1230792FB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fi-FI" dirty="0"/>
              <a:t>Konttiympäristö, jossa käyttöjärjestelmiä ja sovelluksia ajetaan eristetyssä ympäristössä. Tämä mahdollistaa sovellusten siirtämisen ja käyttämisen eri ympäristöissä ilman että niiden toimivuus riippuisi käyttöjärjestelmästä, kirjastoista tai muiden ohjelmistojen asennuksista isäntäympäristössä</a:t>
            </a:r>
          </a:p>
          <a:p>
            <a:pPr lvl="1"/>
            <a:r>
              <a:rPr lang="fi-FI" dirty="0"/>
              <a:t>Yhdenmukaisuus, </a:t>
            </a:r>
            <a:r>
              <a:rPr lang="fi-FI" dirty="0" err="1"/>
              <a:t>Docker</a:t>
            </a:r>
            <a:r>
              <a:rPr lang="fi-FI" dirty="0"/>
              <a:t> pakkaa kaikki riippuvuudet, sis. ohjelmistokehykset, kirjastot ja komponentit -&gt; toimii samalla tavalla kaikissa ympäristöissä</a:t>
            </a:r>
          </a:p>
          <a:p>
            <a:pPr lvl="1"/>
            <a:r>
              <a:rPr lang="fi-FI" dirty="0"/>
              <a:t>Eristäminen, jokainen </a:t>
            </a:r>
            <a:r>
              <a:rPr lang="fi-FI" dirty="0" err="1"/>
              <a:t>Docker</a:t>
            </a:r>
            <a:r>
              <a:rPr lang="fi-FI" dirty="0"/>
              <a:t>-kontti toimii eristetyssä ympäristössä eli sovellukset voivat käyttää samoja resursseja esim. webbiselain</a:t>
            </a:r>
          </a:p>
          <a:p>
            <a:pPr lvl="1"/>
            <a:r>
              <a:rPr lang="fi-FI" dirty="0"/>
              <a:t>Helppo siirrettävyys, kontit ovat itsenäisiä paketteja jotka sisältävät kaiken tarvittavan tiedon</a:t>
            </a:r>
          </a:p>
          <a:p>
            <a:pPr lvl="1"/>
            <a:r>
              <a:rPr lang="fi-FI" dirty="0"/>
              <a:t>Nopea käynnistys, skaalaus ja jaettavuus -&gt; sama ympäristö voidaan jakaa usealle kehittäjälle, ympäristö lataa tarvittavat sovellukset nopeasti käytettäväksi</a:t>
            </a:r>
          </a:p>
        </p:txBody>
      </p:sp>
    </p:spTree>
    <p:extLst>
      <p:ext uri="{BB962C8B-B14F-4D97-AF65-F5344CB8AC3E}">
        <p14:creationId xmlns:p14="http://schemas.microsoft.com/office/powerpoint/2010/main" val="20356517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8828EAFC-DF9F-8F08-957F-6663ADD1D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Osa 13 – SQL relaatiotietokanta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5188DACA-F2B1-4950-DE12-0B251E9C83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/>
              <a:t>Taulut, relaatiotietokannassa tiedot säilytetään tauluissa, jokainen taulu koostuu riveistä ja sarakkeista</a:t>
            </a:r>
          </a:p>
          <a:p>
            <a:r>
              <a:rPr lang="fi-FI" dirty="0"/>
              <a:t>Suhteet, taulut voivat olla keskenään suhteessa, suhteet luodaan yleensä taulujen välille ja ne voivat olla yksi yhteen tai moneen suhteilla</a:t>
            </a:r>
          </a:p>
          <a:p>
            <a:r>
              <a:rPr lang="fi-FI" dirty="0"/>
              <a:t>Ehdot, kyselyt tehdään SQL kielellä (</a:t>
            </a:r>
            <a:r>
              <a:rPr lang="fi-FI" dirty="0" err="1"/>
              <a:t>Structured</a:t>
            </a:r>
            <a:r>
              <a:rPr lang="fi-FI" dirty="0"/>
              <a:t> </a:t>
            </a:r>
            <a:r>
              <a:rPr lang="fi-FI" dirty="0" err="1"/>
              <a:t>Question</a:t>
            </a:r>
            <a:r>
              <a:rPr lang="fi-FI" dirty="0"/>
              <a:t> Language) ehdot määrittävät, millä ehdoilla tietueet valitaan haun tulokseksi</a:t>
            </a:r>
          </a:p>
          <a:p>
            <a:pPr marL="457200" lvl="1" indent="0">
              <a:buNone/>
            </a:pPr>
            <a:r>
              <a:rPr lang="fi-FI" dirty="0"/>
              <a:t>	SELECT * FROM </a:t>
            </a:r>
            <a:r>
              <a:rPr lang="fi-FI" dirty="0" err="1"/>
              <a:t>Book</a:t>
            </a:r>
            <a:r>
              <a:rPr lang="fi-FI" dirty="0"/>
              <a:t> WHERE </a:t>
            </a:r>
            <a:r>
              <a:rPr lang="fi-FI" dirty="0" err="1"/>
              <a:t>price</a:t>
            </a:r>
            <a:r>
              <a:rPr lang="fi-FI" dirty="0"/>
              <a:t> &gt; 100.00 ORDER BY </a:t>
            </a:r>
            <a:r>
              <a:rPr lang="fi-FI" dirty="0" err="1"/>
              <a:t>title</a:t>
            </a:r>
            <a:r>
              <a:rPr lang="fi-FI" dirty="0"/>
              <a:t>;</a:t>
            </a:r>
          </a:p>
          <a:p>
            <a:pPr marL="914400" lvl="2" indent="0">
              <a:buNone/>
            </a:pPr>
            <a:r>
              <a:rPr lang="fi-FI" dirty="0"/>
              <a:t>Kysely palauttaa tuloksen jossa kirjan hinta on yli 100 ja tulos lajitellaan kirjan nimen mukaan. </a:t>
            </a:r>
          </a:p>
        </p:txBody>
      </p:sp>
    </p:spTree>
    <p:extLst>
      <p:ext uri="{BB962C8B-B14F-4D97-AF65-F5344CB8AC3E}">
        <p14:creationId xmlns:p14="http://schemas.microsoft.com/office/powerpoint/2010/main" val="38863121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9440101B-FE8C-86A2-B3E7-A01ECB493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5578475"/>
          </a:xfrm>
        </p:spPr>
        <p:txBody>
          <a:bodyPr>
            <a:normAutofit/>
          </a:bodyPr>
          <a:lstStyle/>
          <a:p>
            <a:pPr algn="ctr"/>
            <a:r>
              <a:rPr lang="fi-FI" sz="6000" b="1" dirty="0"/>
              <a:t>Loppusanat ja Kiitos!</a:t>
            </a:r>
            <a:br>
              <a:rPr lang="fi-FI" sz="6000" b="1" dirty="0"/>
            </a:br>
            <a:endParaRPr lang="fi-FI" sz="6000" b="1" dirty="0"/>
          </a:p>
        </p:txBody>
      </p:sp>
    </p:spTree>
    <p:extLst>
      <p:ext uri="{BB962C8B-B14F-4D97-AF65-F5344CB8AC3E}">
        <p14:creationId xmlns:p14="http://schemas.microsoft.com/office/powerpoint/2010/main" val="19809475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e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40513</TotalTime>
  <Words>2201</Words>
  <Application>Microsoft Macintosh PowerPoint</Application>
  <PresentationFormat>Laajakuva</PresentationFormat>
  <Paragraphs>144</Paragraphs>
  <Slides>24</Slides>
  <Notes>1</Notes>
  <HiddenSlides>0</HiddenSlides>
  <MMClips>0</MMClips>
  <ScaleCrop>false</ScaleCrop>
  <HeadingPairs>
    <vt:vector size="6" baseType="variant">
      <vt:variant>
        <vt:lpstr>Käytetyt fontit</vt:lpstr>
      </vt:variant>
      <vt:variant>
        <vt:i4>4</vt:i4>
      </vt:variant>
      <vt:variant>
        <vt:lpstr>Teema</vt:lpstr>
      </vt:variant>
      <vt:variant>
        <vt:i4>1</vt:i4>
      </vt:variant>
      <vt:variant>
        <vt:lpstr>Dian otsikot</vt:lpstr>
      </vt:variant>
      <vt:variant>
        <vt:i4>24</vt:i4>
      </vt:variant>
    </vt:vector>
  </HeadingPairs>
  <TitlesOfParts>
    <vt:vector size="29" baseType="lpstr">
      <vt:lpstr>Arial</vt:lpstr>
      <vt:lpstr>Calibri</vt:lpstr>
      <vt:lpstr>Calibri Light</vt:lpstr>
      <vt:lpstr>Söhne</vt:lpstr>
      <vt:lpstr>Office-teema</vt:lpstr>
      <vt:lpstr>React Full Stack Open</vt:lpstr>
      <vt:lpstr>Osa 3 - (Node.js ja Express)</vt:lpstr>
      <vt:lpstr>Osa 4 - Käyttäjähallinta ja Token pohjainen kirjautuminen</vt:lpstr>
      <vt:lpstr>Osa 4 – Backend testaus </vt:lpstr>
      <vt:lpstr>Osa 5 – Kirjautuminen frontista</vt:lpstr>
      <vt:lpstr>Osa 5 – Frontend testaus</vt:lpstr>
      <vt:lpstr>Osa 6 – Redux</vt:lpstr>
      <vt:lpstr>Osa 6 – useampi reduceri ja palvelinyhteys</vt:lpstr>
      <vt:lpstr>Osa 6 – React Query ja tilan hallinta</vt:lpstr>
      <vt:lpstr>Osa 7 – Router, navigointi ja uudelleenohjaus</vt:lpstr>
      <vt:lpstr>Osa 7 – Hooks ja Spreads attribuutit</vt:lpstr>
      <vt:lpstr>Osa 7 – Tyylit ja webpack</vt:lpstr>
      <vt:lpstr>Osa 8 – GraphQL palvelin</vt:lpstr>
      <vt:lpstr>Osa 8 – GraphQL:n resolverit ja mutaatiot</vt:lpstr>
      <vt:lpstr>Osa 8 – Tietokanta, fragmentit ja subskriptiot</vt:lpstr>
      <vt:lpstr>Osa 9 - TypeScript</vt:lpstr>
      <vt:lpstr>Osa 10 – React Native</vt:lpstr>
      <vt:lpstr>Osa 10 – GraphQL ja React Native</vt:lpstr>
      <vt:lpstr>Osa 11 – CI/CD</vt:lpstr>
      <vt:lpstr>Osa 11 – CI/CD</vt:lpstr>
      <vt:lpstr>Osa 11 – Yml –tiedosto pääpiirteet Azure</vt:lpstr>
      <vt:lpstr>Osa 12 - Docker</vt:lpstr>
      <vt:lpstr>Osa 13 – SQL relaatiotietokanta</vt:lpstr>
      <vt:lpstr>Loppusanat ja Kiitos!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React Full Stack Open</dc:title>
  <dc:creator>Keränen Jarno</dc:creator>
  <cp:lastModifiedBy>Keränen Jarno</cp:lastModifiedBy>
  <cp:revision>10</cp:revision>
  <dcterms:created xsi:type="dcterms:W3CDTF">2024-04-25T16:21:16Z</dcterms:created>
  <dcterms:modified xsi:type="dcterms:W3CDTF">2024-05-23T19:35:09Z</dcterms:modified>
</cp:coreProperties>
</file>